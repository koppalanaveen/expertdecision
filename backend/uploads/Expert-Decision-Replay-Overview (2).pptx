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Lato" panose="020F0502020204030203" pitchFamily="34" charset="0"/>
      <p:regular r:id="rId12"/>
    </p:embeddedFont>
    <p:embeddedFont>
      <p:font typeface="Lato Bold" panose="020F0502020204030203" charset="0"/>
      <p:regular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C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2286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DD6CC"/>
          </a:solidFill>
          <a:ln/>
        </p:spPr>
      </p:sp>
      <p:sp>
        <p:nvSpPr>
          <p:cNvPr id="3" name="Shape 1"/>
          <p:cNvSpPr/>
          <p:nvPr/>
        </p:nvSpPr>
        <p:spPr>
          <a:xfrm>
            <a:off x="0" y="0"/>
            <a:ext cx="12191695" cy="68580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E5DFD2"/>
          </a:solidFill>
          <a:ln/>
        </p:spPr>
      </p:sp>
      <p:pic>
        <p:nvPicPr>
          <p:cNvPr id="3" name="Image 0" descr="preencoded.png"/>
          <p:cNvPicPr>
            <a:picLocks noChangeAspect="1"/>
          </p:cNvPicPr>
          <p:nvPr/>
        </p:nvPicPr>
        <p:blipFill>
          <a:blip r:embed="rId3"/>
          <a:stretch>
            <a:fillRect/>
          </a:stretch>
        </p:blipFill>
        <p:spPr>
          <a:xfrm>
            <a:off x="94454" y="506909"/>
            <a:ext cx="4382879" cy="5844084"/>
          </a:xfrm>
          <a:prstGeom prst="rect">
            <a:avLst/>
          </a:prstGeom>
        </p:spPr>
      </p:pic>
      <p:sp>
        <p:nvSpPr>
          <p:cNvPr id="4" name="Text 1"/>
          <p:cNvSpPr/>
          <p:nvPr/>
        </p:nvSpPr>
        <p:spPr>
          <a:xfrm>
            <a:off x="5233360" y="814189"/>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282824"/>
                </a:solidFill>
                <a:latin typeface="Lato Bold" pitchFamily="34" charset="0"/>
                <a:ea typeface="Lato Bold" pitchFamily="34" charset="-122"/>
                <a:cs typeface="Lato Bold" pitchFamily="34" charset="-120"/>
              </a:rPr>
              <a:t>Expert Decision Replay — Overview</a:t>
            </a:r>
            <a:endParaRPr lang="en-US" sz="3700" dirty="0"/>
          </a:p>
        </p:txBody>
      </p:sp>
      <p:sp>
        <p:nvSpPr>
          <p:cNvPr id="5" name="Text 2"/>
          <p:cNvSpPr/>
          <p:nvPr/>
        </p:nvSpPr>
        <p:spPr>
          <a:xfrm>
            <a:off x="5233360" y="2278955"/>
            <a:ext cx="6296860"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A4A45"/>
                </a:solidFill>
                <a:latin typeface="Lato" pitchFamily="34" charset="0"/>
                <a:ea typeface="Lato" pitchFamily="34" charset="-122"/>
                <a:cs typeface="Lato" pitchFamily="34" charset="-120"/>
              </a:rPr>
              <a:t>     A single web app where teams capture, organize, and revisit important work     decisions. It preserves rationale, options considered, approvals, and files     so teams can learn from past choices and onboard faster.   </a:t>
            </a: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3398838"/>
            <a:ext cx="1972915" cy="2644874"/>
          </a:xfrm>
          <a:prstGeom prst="rect">
            <a:avLst/>
          </a:prstGeom>
        </p:spPr>
      </p:pic>
      <p:sp>
        <p:nvSpPr>
          <p:cNvPr id="7" name="Text 3"/>
          <p:cNvSpPr/>
          <p:nvPr/>
        </p:nvSpPr>
        <p:spPr>
          <a:xfrm>
            <a:off x="5549364" y="3613249"/>
            <a:ext cx="1442505" cy="590550"/>
          </a:xfrm>
          <a:prstGeom prst="rect">
            <a:avLst/>
          </a:prstGeom>
          <a:noFill/>
          <a:ln/>
        </p:spPr>
        <p:txBody>
          <a:bodyPr wrap="square" lIns="0" tIns="0" rIns="0" bIns="0" rtlCol="0" anchor="t">
            <a:normAutofit/>
          </a:bodyPr>
          <a:lstStyle/>
          <a:p>
            <a:pPr marL="0" indent="0" algn="l">
              <a:lnSpc>
                <a:spcPct val="104000"/>
              </a:lnSpc>
              <a:buNone/>
            </a:pPr>
            <a:r>
              <a:rPr lang="en-US" sz="1850" b="1" dirty="0">
                <a:solidFill>
                  <a:srgbClr val="4A4A45"/>
                </a:solidFill>
                <a:latin typeface="Lato Bold" pitchFamily="34" charset="0"/>
                <a:ea typeface="Lato Bold" pitchFamily="34" charset="-122"/>
                <a:cs typeface="Lato Bold" pitchFamily="34" charset="-120"/>
              </a:rPr>
              <a:t>Why it matters</a:t>
            </a:r>
            <a:endParaRPr lang="en-US" sz="1850" dirty="0"/>
          </a:p>
        </p:txBody>
      </p:sp>
      <p:sp>
        <p:nvSpPr>
          <p:cNvPr id="8" name="Text 4"/>
          <p:cNvSpPr/>
          <p:nvPr/>
        </p:nvSpPr>
        <p:spPr>
          <a:xfrm>
            <a:off x="5549364" y="4317206"/>
            <a:ext cx="1442505"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A4A45"/>
                </a:solidFill>
                <a:latin typeface="Lato" pitchFamily="34" charset="0"/>
                <a:ea typeface="Lato" pitchFamily="34" charset="-122"/>
                <a:cs typeface="Lato" pitchFamily="34" charset="-120"/>
              </a:rPr>
              <a:t>Keep institutional knowledge when people change roles or leave.</a:t>
            </a:r>
            <a:endParaRPr lang="en-US" sz="14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95283" y="3398838"/>
            <a:ext cx="1972915" cy="2644874"/>
          </a:xfrm>
          <a:prstGeom prst="rect">
            <a:avLst/>
          </a:prstGeom>
        </p:spPr>
      </p:pic>
      <p:sp>
        <p:nvSpPr>
          <p:cNvPr id="10" name="Text 5"/>
          <p:cNvSpPr/>
          <p:nvPr/>
        </p:nvSpPr>
        <p:spPr>
          <a:xfrm>
            <a:off x="7711287" y="3613249"/>
            <a:ext cx="1442505" cy="295275"/>
          </a:xfrm>
          <a:prstGeom prst="rect">
            <a:avLst/>
          </a:prstGeom>
          <a:noFill/>
          <a:ln/>
        </p:spPr>
        <p:txBody>
          <a:bodyPr wrap="none" lIns="0" tIns="0" rIns="0" bIns="0" rtlCol="0" anchor="t"/>
          <a:lstStyle/>
          <a:p>
            <a:pPr marL="0" indent="0" algn="l">
              <a:lnSpc>
                <a:spcPct val="104000"/>
              </a:lnSpc>
              <a:buNone/>
            </a:pPr>
            <a:r>
              <a:rPr lang="en-US" sz="1850" b="1" dirty="0">
                <a:solidFill>
                  <a:srgbClr val="4A4A45"/>
                </a:solidFill>
                <a:latin typeface="Lato Bold" pitchFamily="34" charset="0"/>
                <a:ea typeface="Lato Bold" pitchFamily="34" charset="-122"/>
                <a:cs typeface="Lato Bold" pitchFamily="34" charset="-120"/>
              </a:rPr>
              <a:t>Who it serves</a:t>
            </a:r>
            <a:endParaRPr lang="en-US" sz="1850" dirty="0"/>
          </a:p>
        </p:txBody>
      </p:sp>
      <p:sp>
        <p:nvSpPr>
          <p:cNvPr id="11" name="Text 6"/>
          <p:cNvSpPr/>
          <p:nvPr/>
        </p:nvSpPr>
        <p:spPr>
          <a:xfrm>
            <a:off x="7711287" y="4021931"/>
            <a:ext cx="1442505"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A4A45"/>
                </a:solidFill>
                <a:latin typeface="Lato" pitchFamily="34" charset="0"/>
                <a:ea typeface="Lato" pitchFamily="34" charset="-122"/>
                <a:cs typeface="Lato" pitchFamily="34" charset="-120"/>
              </a:rPr>
              <a:t>Engineering, consulting, research, and cross-functional teams.</a:t>
            </a:r>
            <a:endParaRPr lang="en-US" sz="14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57205" y="3398838"/>
            <a:ext cx="1972915" cy="2644874"/>
          </a:xfrm>
          <a:prstGeom prst="rect">
            <a:avLst/>
          </a:prstGeom>
        </p:spPr>
      </p:pic>
      <p:sp>
        <p:nvSpPr>
          <p:cNvPr id="13" name="Text 7"/>
          <p:cNvSpPr/>
          <p:nvPr/>
        </p:nvSpPr>
        <p:spPr>
          <a:xfrm>
            <a:off x="9873209" y="3613249"/>
            <a:ext cx="1442505" cy="295275"/>
          </a:xfrm>
          <a:prstGeom prst="rect">
            <a:avLst/>
          </a:prstGeom>
          <a:noFill/>
          <a:ln/>
        </p:spPr>
        <p:txBody>
          <a:bodyPr wrap="none" lIns="0" tIns="0" rIns="0" bIns="0" rtlCol="0" anchor="t"/>
          <a:lstStyle/>
          <a:p>
            <a:pPr marL="0" indent="0" algn="l">
              <a:lnSpc>
                <a:spcPct val="104000"/>
              </a:lnSpc>
              <a:buNone/>
            </a:pPr>
            <a:r>
              <a:rPr lang="en-US" sz="1850" b="1" dirty="0">
                <a:solidFill>
                  <a:srgbClr val="4A4A45"/>
                </a:solidFill>
                <a:latin typeface="Lato Bold" pitchFamily="34" charset="0"/>
                <a:ea typeface="Lato Bold" pitchFamily="34" charset="-122"/>
                <a:cs typeface="Lato Bold" pitchFamily="34" charset="-120"/>
              </a:rPr>
              <a:t>Core benefit</a:t>
            </a:r>
            <a:endParaRPr lang="en-US" sz="1850" dirty="0"/>
          </a:p>
        </p:txBody>
      </p:sp>
      <p:sp>
        <p:nvSpPr>
          <p:cNvPr id="14" name="Text 8"/>
          <p:cNvSpPr/>
          <p:nvPr/>
        </p:nvSpPr>
        <p:spPr>
          <a:xfrm>
            <a:off x="9873209" y="4021931"/>
            <a:ext cx="1442505"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A4A45"/>
                </a:solidFill>
                <a:latin typeface="Lato" pitchFamily="34" charset="0"/>
                <a:ea typeface="Lato" pitchFamily="34" charset="-122"/>
                <a:cs typeface="Lato" pitchFamily="34" charset="-120"/>
              </a:rPr>
              <a:t>One canonical source for decisions, debate, and outcomes.</a:t>
            </a:r>
            <a:endParaRPr lang="en-US" sz="1450" dirty="0"/>
          </a:p>
        </p:txBody>
      </p:sp>
      <p:sp>
        <p:nvSpPr>
          <p:cNvPr id="15" name="Rectangle 14">
            <a:extLst>
              <a:ext uri="{FF2B5EF4-FFF2-40B4-BE49-F238E27FC236}">
                <a16:creationId xmlns:a16="http://schemas.microsoft.com/office/drawing/2014/main" id="{419585D1-B8CE-DF99-4975-43195B1EEE3D}"/>
              </a:ext>
            </a:extLst>
          </p:cNvPr>
          <p:cNvSpPr/>
          <p:nvPr/>
        </p:nvSpPr>
        <p:spPr>
          <a:xfrm>
            <a:off x="10842171" y="6484776"/>
            <a:ext cx="1349829" cy="298579"/>
          </a:xfrm>
          <a:prstGeom prst="rect">
            <a:avLst/>
          </a:prstGeom>
          <a:solidFill>
            <a:srgbClr val="EFE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12093"/>
            <a:ext cx="10868745" cy="552351"/>
          </a:xfrm>
          <a:prstGeom prst="rect">
            <a:avLst/>
          </a:prstGeom>
          <a:noFill/>
          <a:ln/>
        </p:spPr>
        <p:txBody>
          <a:bodyPr wrap="none" lIns="0" tIns="0" rIns="0" bIns="0" rtlCol="0" anchor="t"/>
          <a:lstStyle/>
          <a:p>
            <a:pPr marL="0" indent="0" algn="l">
              <a:lnSpc>
                <a:spcPct val="104000"/>
              </a:lnSpc>
              <a:buNone/>
            </a:pPr>
            <a:r>
              <a:rPr lang="en-US" sz="3450" b="1" dirty="0">
                <a:solidFill>
                  <a:srgbClr val="282824"/>
                </a:solidFill>
                <a:latin typeface="Lato Bold" pitchFamily="34" charset="0"/>
                <a:ea typeface="Lato Bold" pitchFamily="34" charset="-122"/>
                <a:cs typeface="Lato Bold" pitchFamily="34" charset="-120"/>
              </a:rPr>
              <a:t>Milestone 2 — Completed Features</a:t>
            </a:r>
            <a:endParaRPr lang="en-US" sz="3450" dirty="0"/>
          </a:p>
        </p:txBody>
      </p:sp>
      <p:sp>
        <p:nvSpPr>
          <p:cNvPr id="3" name="Text 1"/>
          <p:cNvSpPr/>
          <p:nvPr/>
        </p:nvSpPr>
        <p:spPr>
          <a:xfrm>
            <a:off x="661475" y="1595041"/>
            <a:ext cx="10868745" cy="547291"/>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4A4A45"/>
                </a:solidFill>
                <a:latin typeface="Lato" pitchFamily="34" charset="0"/>
                <a:ea typeface="Lato" pitchFamily="34" charset="-122"/>
                <a:cs typeface="Lato" pitchFamily="34" charset="-120"/>
              </a:rPr>
              <a:t>     This phase delivered the foundational workflow: decision records, alternatives,     file attachments, threaded discussion, and automatic versioning.   </a:t>
            </a:r>
            <a:endParaRPr lang="en-US" sz="1350" dirty="0"/>
          </a:p>
        </p:txBody>
      </p:sp>
      <p:pic>
        <p:nvPicPr>
          <p:cNvPr id="4" name="Image 0" descr="preencoded.png"/>
          <p:cNvPicPr>
            <a:picLocks noChangeAspect="1"/>
          </p:cNvPicPr>
          <p:nvPr/>
        </p:nvPicPr>
        <p:blipFill>
          <a:blip r:embed="rId3"/>
          <a:stretch>
            <a:fillRect/>
          </a:stretch>
        </p:blipFill>
        <p:spPr>
          <a:xfrm>
            <a:off x="661475" y="2328267"/>
            <a:ext cx="705825" cy="705842"/>
          </a:xfrm>
          <a:prstGeom prst="rect">
            <a:avLst/>
          </a:prstGeom>
        </p:spPr>
      </p:pic>
      <p:sp>
        <p:nvSpPr>
          <p:cNvPr id="5" name="Text 2"/>
          <p:cNvSpPr/>
          <p:nvPr/>
        </p:nvSpPr>
        <p:spPr>
          <a:xfrm>
            <a:off x="1573868" y="2328267"/>
            <a:ext cx="1649867" cy="276126"/>
          </a:xfrm>
          <a:prstGeom prst="rect">
            <a:avLst/>
          </a:prstGeom>
          <a:noFill/>
          <a:ln/>
        </p:spPr>
        <p:txBody>
          <a:bodyPr wrap="none" lIns="0" tIns="0" rIns="0" bIns="0" rtlCol="0" anchor="t"/>
          <a:lstStyle/>
          <a:p>
            <a:pPr marL="0" indent="0" algn="l">
              <a:lnSpc>
                <a:spcPct val="104000"/>
              </a:lnSpc>
              <a:buNone/>
            </a:pPr>
            <a:r>
              <a:rPr lang="en-US" sz="1700" b="1" dirty="0">
                <a:solidFill>
                  <a:srgbClr val="4A4A45"/>
                </a:solidFill>
                <a:latin typeface="Lato Bold" pitchFamily="34" charset="0"/>
                <a:ea typeface="Lato Bold" pitchFamily="34" charset="-122"/>
                <a:cs typeface="Lato Bold" pitchFamily="34" charset="-120"/>
              </a:rPr>
              <a:t>Decision Log</a:t>
            </a:r>
            <a:endParaRPr lang="en-US" sz="1700" dirty="0"/>
          </a:p>
        </p:txBody>
      </p:sp>
      <p:sp>
        <p:nvSpPr>
          <p:cNvPr id="6" name="Text 3"/>
          <p:cNvSpPr/>
          <p:nvPr/>
        </p:nvSpPr>
        <p:spPr>
          <a:xfrm>
            <a:off x="1573868" y="2703513"/>
            <a:ext cx="1649867" cy="1641872"/>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4A4A45"/>
                </a:solidFill>
                <a:latin typeface="Lato" pitchFamily="34" charset="0"/>
                <a:ea typeface="Lato" pitchFamily="34" charset="-122"/>
                <a:cs typeface="Lato" pitchFamily="34" charset="-120"/>
              </a:rPr>
              <a:t>Create, edit, and manage decisions with statuses: Draft, Under Review, Approved, Rejected, Archived.</a:t>
            </a:r>
            <a:endParaRPr lang="en-US" sz="1350" dirty="0"/>
          </a:p>
        </p:txBody>
      </p:sp>
      <p:pic>
        <p:nvPicPr>
          <p:cNvPr id="7" name="Image 1" descr="preencoded.png"/>
          <p:cNvPicPr>
            <a:picLocks noChangeAspect="1"/>
          </p:cNvPicPr>
          <p:nvPr/>
        </p:nvPicPr>
        <p:blipFill>
          <a:blip r:embed="rId4"/>
          <a:stretch>
            <a:fillRect/>
          </a:stretch>
        </p:blipFill>
        <p:spPr>
          <a:xfrm>
            <a:off x="3430303" y="2328267"/>
            <a:ext cx="705825" cy="705842"/>
          </a:xfrm>
          <a:prstGeom prst="rect">
            <a:avLst/>
          </a:prstGeom>
        </p:spPr>
      </p:pic>
      <p:sp>
        <p:nvSpPr>
          <p:cNvPr id="8" name="Text 4"/>
          <p:cNvSpPr/>
          <p:nvPr/>
        </p:nvSpPr>
        <p:spPr>
          <a:xfrm>
            <a:off x="4342696" y="2328267"/>
            <a:ext cx="1649867" cy="276126"/>
          </a:xfrm>
          <a:prstGeom prst="rect">
            <a:avLst/>
          </a:prstGeom>
          <a:noFill/>
          <a:ln/>
        </p:spPr>
        <p:txBody>
          <a:bodyPr wrap="none" lIns="0" tIns="0" rIns="0" bIns="0" rtlCol="0" anchor="t"/>
          <a:lstStyle/>
          <a:p>
            <a:pPr marL="0" indent="0" algn="l">
              <a:lnSpc>
                <a:spcPct val="104000"/>
              </a:lnSpc>
              <a:buNone/>
            </a:pPr>
            <a:r>
              <a:rPr lang="en-US" sz="1700" b="1" dirty="0">
                <a:solidFill>
                  <a:srgbClr val="4A4A45"/>
                </a:solidFill>
                <a:latin typeface="Lato Bold" pitchFamily="34" charset="0"/>
                <a:ea typeface="Lato Bold" pitchFamily="34" charset="-122"/>
                <a:cs typeface="Lato Bold" pitchFamily="34" charset="-120"/>
              </a:rPr>
              <a:t>Alternatives</a:t>
            </a:r>
            <a:endParaRPr lang="en-US" sz="1700" dirty="0"/>
          </a:p>
        </p:txBody>
      </p:sp>
      <p:sp>
        <p:nvSpPr>
          <p:cNvPr id="9" name="Text 5"/>
          <p:cNvSpPr/>
          <p:nvPr/>
        </p:nvSpPr>
        <p:spPr>
          <a:xfrm>
            <a:off x="4342696" y="2703513"/>
            <a:ext cx="1649867" cy="1641872"/>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4A4A45"/>
                </a:solidFill>
                <a:latin typeface="Lato" pitchFamily="34" charset="0"/>
                <a:ea typeface="Lato" pitchFamily="34" charset="-122"/>
                <a:cs typeface="Lato" pitchFamily="34" charset="-120"/>
              </a:rPr>
              <a:t>Add options with cost, pros/cons, risk (Low/Medium/High), and feasibility for side-by-side comparison.</a:t>
            </a:r>
            <a:endParaRPr lang="en-US" sz="1350" dirty="0"/>
          </a:p>
        </p:txBody>
      </p:sp>
      <p:pic>
        <p:nvPicPr>
          <p:cNvPr id="10" name="Image 2" descr="preencoded.png"/>
          <p:cNvPicPr>
            <a:picLocks noChangeAspect="1"/>
          </p:cNvPicPr>
          <p:nvPr/>
        </p:nvPicPr>
        <p:blipFill>
          <a:blip r:embed="rId5"/>
          <a:stretch>
            <a:fillRect/>
          </a:stretch>
        </p:blipFill>
        <p:spPr>
          <a:xfrm>
            <a:off x="6199132" y="2328267"/>
            <a:ext cx="705825" cy="705842"/>
          </a:xfrm>
          <a:prstGeom prst="rect">
            <a:avLst/>
          </a:prstGeom>
        </p:spPr>
      </p:pic>
      <p:sp>
        <p:nvSpPr>
          <p:cNvPr id="11" name="Text 6"/>
          <p:cNvSpPr/>
          <p:nvPr/>
        </p:nvSpPr>
        <p:spPr>
          <a:xfrm>
            <a:off x="7111524" y="2328267"/>
            <a:ext cx="1649867" cy="276126"/>
          </a:xfrm>
          <a:prstGeom prst="rect">
            <a:avLst/>
          </a:prstGeom>
          <a:noFill/>
          <a:ln/>
        </p:spPr>
        <p:txBody>
          <a:bodyPr wrap="none" lIns="0" tIns="0" rIns="0" bIns="0" rtlCol="0" anchor="t"/>
          <a:lstStyle/>
          <a:p>
            <a:pPr marL="0" indent="0" algn="l">
              <a:lnSpc>
                <a:spcPct val="104000"/>
              </a:lnSpc>
              <a:buNone/>
            </a:pPr>
            <a:r>
              <a:rPr lang="en-US" sz="1700" b="1" dirty="0">
                <a:solidFill>
                  <a:srgbClr val="4A4A45"/>
                </a:solidFill>
                <a:latin typeface="Lato Bold" pitchFamily="34" charset="0"/>
                <a:ea typeface="Lato Bold" pitchFamily="34" charset="-122"/>
                <a:cs typeface="Lato Bold" pitchFamily="34" charset="-120"/>
              </a:rPr>
              <a:t>File Uploads</a:t>
            </a:r>
            <a:endParaRPr lang="en-US" sz="1700" dirty="0"/>
          </a:p>
        </p:txBody>
      </p:sp>
      <p:sp>
        <p:nvSpPr>
          <p:cNvPr id="12" name="Text 7"/>
          <p:cNvSpPr/>
          <p:nvPr/>
        </p:nvSpPr>
        <p:spPr>
          <a:xfrm>
            <a:off x="7111524" y="2703513"/>
            <a:ext cx="1649867" cy="1094581"/>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4A4A45"/>
                </a:solidFill>
                <a:latin typeface="Lato" pitchFamily="34" charset="0"/>
                <a:ea typeface="Lato" pitchFamily="34" charset="-122"/>
                <a:cs typeface="Lato" pitchFamily="34" charset="-120"/>
              </a:rPr>
              <a:t>Attach PDFs, Word docs, and images directly to decisions and comments.</a:t>
            </a:r>
            <a:endParaRPr lang="en-US" sz="1350" dirty="0"/>
          </a:p>
        </p:txBody>
      </p:sp>
      <p:pic>
        <p:nvPicPr>
          <p:cNvPr id="13" name="Image 3" descr="preencoded.png"/>
          <p:cNvPicPr>
            <a:picLocks noChangeAspect="1"/>
          </p:cNvPicPr>
          <p:nvPr/>
        </p:nvPicPr>
        <p:blipFill>
          <a:blip r:embed="rId6"/>
          <a:stretch>
            <a:fillRect/>
          </a:stretch>
        </p:blipFill>
        <p:spPr>
          <a:xfrm>
            <a:off x="8967960" y="2328267"/>
            <a:ext cx="705825" cy="705842"/>
          </a:xfrm>
          <a:prstGeom prst="rect">
            <a:avLst/>
          </a:prstGeom>
        </p:spPr>
      </p:pic>
      <p:sp>
        <p:nvSpPr>
          <p:cNvPr id="14" name="Text 8"/>
          <p:cNvSpPr/>
          <p:nvPr/>
        </p:nvSpPr>
        <p:spPr>
          <a:xfrm>
            <a:off x="9880353" y="2328267"/>
            <a:ext cx="1649867" cy="552252"/>
          </a:xfrm>
          <a:prstGeom prst="rect">
            <a:avLst/>
          </a:prstGeom>
          <a:noFill/>
          <a:ln/>
        </p:spPr>
        <p:txBody>
          <a:bodyPr wrap="square" lIns="0" tIns="0" rIns="0" bIns="0" rtlCol="0" anchor="t">
            <a:normAutofit/>
          </a:bodyPr>
          <a:lstStyle/>
          <a:p>
            <a:pPr marL="0" indent="0" algn="l">
              <a:lnSpc>
                <a:spcPct val="104000"/>
              </a:lnSpc>
              <a:buNone/>
            </a:pPr>
            <a:r>
              <a:rPr lang="en-US" sz="1700" b="1" dirty="0">
                <a:solidFill>
                  <a:srgbClr val="4A4A45"/>
                </a:solidFill>
                <a:latin typeface="Lato Bold" pitchFamily="34" charset="0"/>
                <a:ea typeface="Lato Bold" pitchFamily="34" charset="-122"/>
                <a:cs typeface="Lato Bold" pitchFamily="34" charset="-120"/>
              </a:rPr>
              <a:t>Discussion Board</a:t>
            </a:r>
            <a:endParaRPr lang="en-US" sz="1700" dirty="0"/>
          </a:p>
        </p:txBody>
      </p:sp>
      <p:sp>
        <p:nvSpPr>
          <p:cNvPr id="15" name="Text 9"/>
          <p:cNvSpPr/>
          <p:nvPr/>
        </p:nvSpPr>
        <p:spPr>
          <a:xfrm>
            <a:off x="9880353" y="2979638"/>
            <a:ext cx="1649867" cy="1094581"/>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4A4A45"/>
                </a:solidFill>
                <a:latin typeface="Lato" pitchFamily="34" charset="0"/>
                <a:ea typeface="Lato" pitchFamily="34" charset="-122"/>
                <a:cs typeface="Lato" pitchFamily="34" charset="-120"/>
              </a:rPr>
              <a:t>Threaded comments, nested replies, and formal meeting notes kept in-context.</a:t>
            </a:r>
            <a:endParaRPr lang="en-US" sz="1350" dirty="0"/>
          </a:p>
        </p:txBody>
      </p:sp>
      <p:pic>
        <p:nvPicPr>
          <p:cNvPr id="16" name="Image 4" descr="preencoded.png"/>
          <p:cNvPicPr>
            <a:picLocks noChangeAspect="1"/>
          </p:cNvPicPr>
          <p:nvPr/>
        </p:nvPicPr>
        <p:blipFill>
          <a:blip r:embed="rId7"/>
          <a:stretch>
            <a:fillRect/>
          </a:stretch>
        </p:blipFill>
        <p:spPr>
          <a:xfrm>
            <a:off x="661475" y="4675981"/>
            <a:ext cx="705825" cy="705842"/>
          </a:xfrm>
          <a:prstGeom prst="rect">
            <a:avLst/>
          </a:prstGeom>
        </p:spPr>
      </p:pic>
      <p:sp>
        <p:nvSpPr>
          <p:cNvPr id="17" name="Text 10"/>
          <p:cNvSpPr/>
          <p:nvPr/>
        </p:nvSpPr>
        <p:spPr>
          <a:xfrm>
            <a:off x="1573868" y="4675981"/>
            <a:ext cx="1649867" cy="276126"/>
          </a:xfrm>
          <a:prstGeom prst="rect">
            <a:avLst/>
          </a:prstGeom>
          <a:noFill/>
          <a:ln/>
        </p:spPr>
        <p:txBody>
          <a:bodyPr wrap="none" lIns="0" tIns="0" rIns="0" bIns="0" rtlCol="0" anchor="t"/>
          <a:lstStyle/>
          <a:p>
            <a:pPr marL="0" indent="0" algn="l">
              <a:lnSpc>
                <a:spcPct val="104000"/>
              </a:lnSpc>
              <a:buNone/>
            </a:pPr>
            <a:r>
              <a:rPr lang="en-US" sz="1700" b="1" dirty="0">
                <a:solidFill>
                  <a:srgbClr val="4A4A45"/>
                </a:solidFill>
                <a:latin typeface="Lato Bold" pitchFamily="34" charset="0"/>
                <a:ea typeface="Lato Bold" pitchFamily="34" charset="-122"/>
                <a:cs typeface="Lato Bold" pitchFamily="34" charset="-120"/>
              </a:rPr>
              <a:t>Version History</a:t>
            </a:r>
            <a:endParaRPr lang="en-US" sz="1700" dirty="0"/>
          </a:p>
        </p:txBody>
      </p:sp>
      <p:sp>
        <p:nvSpPr>
          <p:cNvPr id="18" name="Text 11"/>
          <p:cNvSpPr/>
          <p:nvPr/>
        </p:nvSpPr>
        <p:spPr>
          <a:xfrm>
            <a:off x="1573868" y="5051227"/>
            <a:ext cx="1649867" cy="1094581"/>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4A4A45"/>
                </a:solidFill>
                <a:latin typeface="Lato" pitchFamily="34" charset="0"/>
                <a:ea typeface="Lato" pitchFamily="34" charset="-122"/>
                <a:cs typeface="Lato" pitchFamily="34" charset="-120"/>
              </a:rPr>
              <a:t>Automatic snapshots on edit with restore capability to recover prior states.</a:t>
            </a:r>
            <a:endParaRPr lang="en-US" sz="1350" dirty="0"/>
          </a:p>
        </p:txBody>
      </p:sp>
      <p:sp>
        <p:nvSpPr>
          <p:cNvPr id="20" name="Rectangle 19">
            <a:extLst>
              <a:ext uri="{FF2B5EF4-FFF2-40B4-BE49-F238E27FC236}">
                <a16:creationId xmlns:a16="http://schemas.microsoft.com/office/drawing/2014/main" id="{FC4F597C-0A16-76CD-0744-2AF2C631BE4D}"/>
              </a:ext>
            </a:extLst>
          </p:cNvPr>
          <p:cNvSpPr/>
          <p:nvPr/>
        </p:nvSpPr>
        <p:spPr>
          <a:xfrm>
            <a:off x="10842171" y="6484776"/>
            <a:ext cx="1349829" cy="298579"/>
          </a:xfrm>
          <a:prstGeom prst="rect">
            <a:avLst/>
          </a:prstGeom>
          <a:solidFill>
            <a:srgbClr val="EFE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619820"/>
            <a:ext cx="10868745" cy="561181"/>
          </a:xfrm>
          <a:prstGeom prst="rect">
            <a:avLst/>
          </a:prstGeom>
          <a:noFill/>
          <a:ln/>
        </p:spPr>
        <p:txBody>
          <a:bodyPr wrap="none" lIns="0" tIns="0" rIns="0" bIns="0" rtlCol="0" anchor="t"/>
          <a:lstStyle/>
          <a:p>
            <a:pPr marL="0" indent="0" algn="l">
              <a:lnSpc>
                <a:spcPct val="104000"/>
              </a:lnSpc>
              <a:buNone/>
            </a:pPr>
            <a:r>
              <a:rPr lang="en-US" sz="3500" b="1" dirty="0">
                <a:solidFill>
                  <a:srgbClr val="282824"/>
                </a:solidFill>
                <a:latin typeface="Lato Bold" pitchFamily="34" charset="0"/>
                <a:ea typeface="Lato Bold" pitchFamily="34" charset="-122"/>
                <a:cs typeface="Lato Bold" pitchFamily="34" charset="-120"/>
              </a:rPr>
              <a:t>Project Architecture </a:t>
            </a:r>
            <a:endParaRPr lang="en-US" sz="3500" dirty="0"/>
          </a:p>
        </p:txBody>
      </p:sp>
      <p:pic>
        <p:nvPicPr>
          <p:cNvPr id="3" name="Image 0" descr="preencoded.png"/>
          <p:cNvPicPr>
            <a:picLocks noChangeAspect="1"/>
          </p:cNvPicPr>
          <p:nvPr/>
        </p:nvPicPr>
        <p:blipFill>
          <a:blip r:embed="rId3"/>
          <a:stretch>
            <a:fillRect/>
          </a:stretch>
        </p:blipFill>
        <p:spPr>
          <a:xfrm>
            <a:off x="777756" y="1628775"/>
            <a:ext cx="4417307" cy="4417417"/>
          </a:xfrm>
          <a:prstGeom prst="rect">
            <a:avLst/>
          </a:prstGeom>
        </p:spPr>
      </p:pic>
      <p:sp>
        <p:nvSpPr>
          <p:cNvPr id="4" name="Text 1"/>
          <p:cNvSpPr/>
          <p:nvPr/>
        </p:nvSpPr>
        <p:spPr>
          <a:xfrm>
            <a:off x="5755833" y="2158603"/>
            <a:ext cx="5780637" cy="280491"/>
          </a:xfrm>
          <a:prstGeom prst="rect">
            <a:avLst/>
          </a:prstGeom>
          <a:noFill/>
          <a:ln/>
        </p:spPr>
        <p:txBody>
          <a:bodyPr wrap="none" lIns="0" tIns="0" rIns="0" bIns="0" rtlCol="0" anchor="t"/>
          <a:lstStyle/>
          <a:p>
            <a:pPr marL="0" indent="0" algn="l">
              <a:lnSpc>
                <a:spcPct val="104000"/>
              </a:lnSpc>
              <a:buNone/>
            </a:pPr>
            <a:r>
              <a:rPr lang="en-US" sz="1750" b="1" dirty="0">
                <a:solidFill>
                  <a:srgbClr val="282824"/>
                </a:solidFill>
                <a:latin typeface="Lato Bold" pitchFamily="34" charset="0"/>
                <a:ea typeface="Lato Bold" pitchFamily="34" charset="-122"/>
                <a:cs typeface="Lato Bold" pitchFamily="34" charset="-120"/>
              </a:rPr>
              <a:t>Frontend</a:t>
            </a:r>
            <a:endParaRPr lang="en-US" sz="1750" dirty="0"/>
          </a:p>
        </p:txBody>
      </p:sp>
      <p:sp>
        <p:nvSpPr>
          <p:cNvPr id="5" name="Text 2"/>
          <p:cNvSpPr/>
          <p:nvPr/>
        </p:nvSpPr>
        <p:spPr>
          <a:xfrm>
            <a:off x="5755833" y="2609652"/>
            <a:ext cx="5780637"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4A4A45"/>
                </a:solidFill>
                <a:latin typeface="Lato" pitchFamily="34" charset="0"/>
                <a:ea typeface="Lato" pitchFamily="34" charset="-122"/>
                <a:cs typeface="Lato" pitchFamily="34" charset="-120"/>
              </a:rPr>
              <a:t>React + Vite for a fast, component-driven UI. Axios handles API requests and optimistic UI updates.</a:t>
            </a:r>
            <a:endParaRPr lang="en-US" sz="1400" dirty="0"/>
          </a:p>
        </p:txBody>
      </p:sp>
      <p:sp>
        <p:nvSpPr>
          <p:cNvPr id="6" name="Text 3"/>
          <p:cNvSpPr/>
          <p:nvPr/>
        </p:nvSpPr>
        <p:spPr>
          <a:xfrm>
            <a:off x="5755833" y="3340398"/>
            <a:ext cx="5780637" cy="280491"/>
          </a:xfrm>
          <a:prstGeom prst="rect">
            <a:avLst/>
          </a:prstGeom>
          <a:noFill/>
          <a:ln/>
        </p:spPr>
        <p:txBody>
          <a:bodyPr wrap="none" lIns="0" tIns="0" rIns="0" bIns="0" rtlCol="0" anchor="t"/>
          <a:lstStyle/>
          <a:p>
            <a:pPr marL="0" indent="0" algn="l">
              <a:lnSpc>
                <a:spcPct val="104000"/>
              </a:lnSpc>
              <a:buNone/>
            </a:pPr>
            <a:r>
              <a:rPr lang="en-US" sz="1750" b="1" dirty="0">
                <a:solidFill>
                  <a:srgbClr val="282824"/>
                </a:solidFill>
                <a:latin typeface="Lato Bold" pitchFamily="34" charset="0"/>
                <a:ea typeface="Lato Bold" pitchFamily="34" charset="-122"/>
                <a:cs typeface="Lato Bold" pitchFamily="34" charset="-120"/>
              </a:rPr>
              <a:t>Backend</a:t>
            </a:r>
            <a:endParaRPr lang="en-US" sz="1750" dirty="0"/>
          </a:p>
        </p:txBody>
      </p:sp>
      <p:sp>
        <p:nvSpPr>
          <p:cNvPr id="7" name="Text 4"/>
          <p:cNvSpPr/>
          <p:nvPr/>
        </p:nvSpPr>
        <p:spPr>
          <a:xfrm>
            <a:off x="5755833" y="3791446"/>
            <a:ext cx="5780637"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4A4A45"/>
                </a:solidFill>
                <a:latin typeface="Lato" pitchFamily="34" charset="0"/>
                <a:ea typeface="Lato" pitchFamily="34" charset="-122"/>
                <a:cs typeface="Lato" pitchFamily="34" charset="-120"/>
              </a:rPr>
              <a:t>FastAPI (Python) provides REST endpoints with JWT-based authentication and role checks.</a:t>
            </a:r>
            <a:endParaRPr lang="en-US" sz="1400" dirty="0"/>
          </a:p>
        </p:txBody>
      </p:sp>
      <p:sp>
        <p:nvSpPr>
          <p:cNvPr id="8" name="Text 5"/>
          <p:cNvSpPr/>
          <p:nvPr/>
        </p:nvSpPr>
        <p:spPr>
          <a:xfrm>
            <a:off x="5755833" y="4522192"/>
            <a:ext cx="5780637" cy="280491"/>
          </a:xfrm>
          <a:prstGeom prst="rect">
            <a:avLst/>
          </a:prstGeom>
          <a:noFill/>
          <a:ln/>
        </p:spPr>
        <p:txBody>
          <a:bodyPr wrap="none" lIns="0" tIns="0" rIns="0" bIns="0" rtlCol="0" anchor="t"/>
          <a:lstStyle/>
          <a:p>
            <a:pPr marL="0" indent="0" algn="l">
              <a:lnSpc>
                <a:spcPct val="104000"/>
              </a:lnSpc>
              <a:buNone/>
            </a:pPr>
            <a:r>
              <a:rPr lang="en-US" sz="1750" b="1" dirty="0">
                <a:solidFill>
                  <a:srgbClr val="282824"/>
                </a:solidFill>
                <a:latin typeface="Lato Bold" pitchFamily="34" charset="0"/>
                <a:ea typeface="Lato Bold" pitchFamily="34" charset="-122"/>
                <a:cs typeface="Lato Bold" pitchFamily="34" charset="-120"/>
              </a:rPr>
              <a:t>Storage</a:t>
            </a:r>
            <a:endParaRPr lang="en-US" sz="1750" dirty="0"/>
          </a:p>
        </p:txBody>
      </p:sp>
      <p:sp>
        <p:nvSpPr>
          <p:cNvPr id="9" name="Text 6"/>
          <p:cNvSpPr/>
          <p:nvPr/>
        </p:nvSpPr>
        <p:spPr>
          <a:xfrm>
            <a:off x="5755833" y="4973241"/>
            <a:ext cx="5780637"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4A4A45"/>
                </a:solidFill>
                <a:latin typeface="Lato" pitchFamily="34" charset="0"/>
                <a:ea typeface="Lato" pitchFamily="34" charset="-122"/>
                <a:cs typeface="Lato" pitchFamily="34" charset="-120"/>
              </a:rPr>
              <a:t>PostgreSQL for structured data (users, decisions, comments, versions). Files stored on server uploads folder (/backend/uploads).</a:t>
            </a:r>
            <a:endParaRPr lang="en-US" sz="1400" dirty="0"/>
          </a:p>
        </p:txBody>
      </p:sp>
      <p:sp>
        <p:nvSpPr>
          <p:cNvPr id="11" name="Rectangle 10">
            <a:extLst>
              <a:ext uri="{FF2B5EF4-FFF2-40B4-BE49-F238E27FC236}">
                <a16:creationId xmlns:a16="http://schemas.microsoft.com/office/drawing/2014/main" id="{6E1A8163-A624-9D44-AC89-E9EB33D483D5}"/>
              </a:ext>
            </a:extLst>
          </p:cNvPr>
          <p:cNvSpPr/>
          <p:nvPr/>
        </p:nvSpPr>
        <p:spPr>
          <a:xfrm>
            <a:off x="10842171" y="6484776"/>
            <a:ext cx="1349829" cy="298579"/>
          </a:xfrm>
          <a:prstGeom prst="rect">
            <a:avLst/>
          </a:prstGeom>
          <a:solidFill>
            <a:srgbClr val="EFE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44513"/>
            <a:ext cx="10868745" cy="1070570"/>
          </a:xfrm>
          <a:prstGeom prst="rect">
            <a:avLst/>
          </a:prstGeom>
          <a:noFill/>
          <a:ln/>
        </p:spPr>
        <p:txBody>
          <a:bodyPr wrap="square" lIns="0" tIns="0" rIns="0" bIns="0" rtlCol="0" anchor="t">
            <a:normAutofit/>
          </a:bodyPr>
          <a:lstStyle/>
          <a:p>
            <a:pPr marL="0" indent="0" algn="l">
              <a:lnSpc>
                <a:spcPct val="104000"/>
              </a:lnSpc>
              <a:buNone/>
            </a:pPr>
            <a:r>
              <a:rPr lang="en-US" sz="3350" b="1" dirty="0">
                <a:solidFill>
                  <a:srgbClr val="282824"/>
                </a:solidFill>
                <a:latin typeface="Lato Bold" pitchFamily="34" charset="0"/>
                <a:ea typeface="Lato Bold" pitchFamily="34" charset="-122"/>
                <a:cs typeface="Lato Bold" pitchFamily="34" charset="-120"/>
              </a:rPr>
              <a:t>Workflow — Add Comment with File (Detailed Breakdown)</a:t>
            </a:r>
            <a:endParaRPr lang="en-US" sz="3350" dirty="0"/>
          </a:p>
        </p:txBody>
      </p:sp>
      <p:pic>
        <p:nvPicPr>
          <p:cNvPr id="3" name="Image 0" descr="preencoded.png"/>
          <p:cNvPicPr>
            <a:picLocks noChangeAspect="1"/>
          </p:cNvPicPr>
          <p:nvPr/>
        </p:nvPicPr>
        <p:blipFill>
          <a:blip r:embed="rId3"/>
          <a:stretch>
            <a:fillRect/>
          </a:stretch>
        </p:blipFill>
        <p:spPr>
          <a:xfrm>
            <a:off x="1173232" y="1925538"/>
            <a:ext cx="9845131" cy="3951982"/>
          </a:xfrm>
          <a:prstGeom prst="rect">
            <a:avLst/>
          </a:prstGeom>
        </p:spPr>
      </p:pic>
      <p:sp>
        <p:nvSpPr>
          <p:cNvPr id="4" name="Text 1"/>
          <p:cNvSpPr/>
          <p:nvPr/>
        </p:nvSpPr>
        <p:spPr>
          <a:xfrm>
            <a:off x="661475" y="6052145"/>
            <a:ext cx="11478330" cy="261243"/>
          </a:xfrm>
          <a:prstGeom prst="rect">
            <a:avLst/>
          </a:prstGeom>
          <a:noFill/>
          <a:ln/>
        </p:spPr>
        <p:txBody>
          <a:bodyPr wrap="none" lIns="0" tIns="0" rIns="0" bIns="0" rtlCol="0" anchor="t"/>
          <a:lstStyle/>
          <a:p>
            <a:pPr marL="0" indent="0" algn="l">
              <a:lnSpc>
                <a:spcPct val="127000"/>
              </a:lnSpc>
              <a:buNone/>
            </a:pPr>
            <a:endParaRPr lang="en-US" sz="1300" dirty="0"/>
          </a:p>
        </p:txBody>
      </p:sp>
      <p:sp>
        <p:nvSpPr>
          <p:cNvPr id="6" name="Rectangle 5">
            <a:extLst>
              <a:ext uri="{FF2B5EF4-FFF2-40B4-BE49-F238E27FC236}">
                <a16:creationId xmlns:a16="http://schemas.microsoft.com/office/drawing/2014/main" id="{475FDD06-526D-10F9-1D69-7F584C212F06}"/>
              </a:ext>
            </a:extLst>
          </p:cNvPr>
          <p:cNvSpPr/>
          <p:nvPr/>
        </p:nvSpPr>
        <p:spPr>
          <a:xfrm>
            <a:off x="10851502" y="6484776"/>
            <a:ext cx="1349829" cy="298579"/>
          </a:xfrm>
          <a:prstGeom prst="rect">
            <a:avLst/>
          </a:prstGeom>
          <a:solidFill>
            <a:srgbClr val="EFE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75705"/>
            <a:ext cx="10868745" cy="502047"/>
          </a:xfrm>
          <a:prstGeom prst="rect">
            <a:avLst/>
          </a:prstGeom>
          <a:noFill/>
          <a:ln/>
        </p:spPr>
        <p:txBody>
          <a:bodyPr wrap="none" lIns="0" tIns="0" rIns="0" bIns="0" rtlCol="0" anchor="t"/>
          <a:lstStyle/>
          <a:p>
            <a:pPr marL="0" indent="0" algn="l">
              <a:lnSpc>
                <a:spcPct val="104000"/>
              </a:lnSpc>
              <a:buNone/>
            </a:pPr>
            <a:r>
              <a:rPr lang="en-US" sz="3150" b="1" dirty="0">
                <a:solidFill>
                  <a:srgbClr val="282824"/>
                </a:solidFill>
                <a:latin typeface="Lato Bold" pitchFamily="34" charset="0"/>
                <a:ea typeface="Lato Bold" pitchFamily="34" charset="-122"/>
                <a:cs typeface="Lato Bold" pitchFamily="34" charset="-120"/>
              </a:rPr>
              <a:t>Step-by-Step Breakdown</a:t>
            </a:r>
            <a:endParaRPr lang="en-US" sz="3150" dirty="0"/>
          </a:p>
        </p:txBody>
      </p:sp>
      <p:sp>
        <p:nvSpPr>
          <p:cNvPr id="3" name="Text 1"/>
          <p:cNvSpPr/>
          <p:nvPr/>
        </p:nvSpPr>
        <p:spPr>
          <a:xfrm>
            <a:off x="661475" y="1650802"/>
            <a:ext cx="11478330" cy="237728"/>
          </a:xfrm>
          <a:prstGeom prst="rect">
            <a:avLst/>
          </a:prstGeom>
          <a:noFill/>
          <a:ln/>
        </p:spPr>
        <p:txBody>
          <a:bodyPr wrap="none" lIns="0" tIns="0" rIns="0" bIns="0" rtlCol="0" anchor="t"/>
          <a:lstStyle/>
          <a:p>
            <a:pPr marL="0" indent="0" algn="l">
              <a:lnSpc>
                <a:spcPct val="123000"/>
              </a:lnSpc>
              <a:buNone/>
            </a:pPr>
            <a:r>
              <a:rPr lang="en-US" sz="1250" dirty="0">
                <a:solidFill>
                  <a:srgbClr val="4A4A45"/>
                </a:solidFill>
                <a:latin typeface="Lato" pitchFamily="34" charset="0"/>
                <a:ea typeface="Lato" pitchFamily="34" charset="-122"/>
                <a:cs typeface="Lato" pitchFamily="34" charset="-120"/>
              </a:rPr>
              <a:t>Here is what happens step-by-step when a user adds a comment with a file:</a:t>
            </a:r>
            <a:endParaRPr lang="en-US" sz="12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283123"/>
            <a:ext cx="5366112" cy="1541959"/>
          </a:xfrm>
          <a:prstGeom prst="rect">
            <a:avLst/>
          </a:prstGeom>
        </p:spPr>
      </p:pic>
      <p:sp>
        <p:nvSpPr>
          <p:cNvPr id="5" name="Text 2"/>
          <p:cNvSpPr/>
          <p:nvPr/>
        </p:nvSpPr>
        <p:spPr>
          <a:xfrm>
            <a:off x="841156" y="2599333"/>
            <a:ext cx="5006751" cy="251023"/>
          </a:xfrm>
          <a:prstGeom prst="rect">
            <a:avLst/>
          </a:prstGeom>
          <a:noFill/>
          <a:ln/>
        </p:spPr>
        <p:txBody>
          <a:bodyPr wrap="none" lIns="0" tIns="0" rIns="0" bIns="0" rtlCol="0" anchor="t"/>
          <a:lstStyle/>
          <a:p>
            <a:pPr marL="0" indent="0" algn="l">
              <a:lnSpc>
                <a:spcPct val="104000"/>
              </a:lnSpc>
              <a:buNone/>
            </a:pPr>
            <a:r>
              <a:rPr lang="en-US" sz="1550" b="1" dirty="0">
                <a:solidFill>
                  <a:srgbClr val="4A4A45"/>
                </a:solidFill>
                <a:latin typeface="Lato Bold" pitchFamily="34" charset="0"/>
                <a:ea typeface="Lato Bold" pitchFamily="34" charset="-122"/>
                <a:cs typeface="Lato Bold" pitchFamily="34" charset="-120"/>
              </a:rPr>
              <a:t>Frontend (React)</a:t>
            </a:r>
            <a:endParaRPr lang="en-US" sz="1550" dirty="0"/>
          </a:p>
        </p:txBody>
      </p:sp>
      <p:sp>
        <p:nvSpPr>
          <p:cNvPr id="6" name="Text 3"/>
          <p:cNvSpPr/>
          <p:nvPr/>
        </p:nvSpPr>
        <p:spPr>
          <a:xfrm>
            <a:off x="841156" y="2932212"/>
            <a:ext cx="5006751" cy="713184"/>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A4A45"/>
                </a:solidFill>
                <a:latin typeface="Lato" pitchFamily="34" charset="0"/>
                <a:ea typeface="Lato" pitchFamily="34" charset="-122"/>
                <a:cs typeface="Lato" pitchFamily="34" charset="-120"/>
              </a:rPr>
              <a:t>The user types a comment, attaches a file, and clicks "Post" on the UI (DecisionDetails.jsx). The frontend package creates a form request and sends it via Axios to the backend API (POST /discussion).</a:t>
            </a:r>
            <a:endParaRPr lang="en-US" sz="12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4108" y="2042120"/>
            <a:ext cx="5366112" cy="1782961"/>
          </a:xfrm>
          <a:prstGeom prst="rect">
            <a:avLst/>
          </a:prstGeom>
        </p:spPr>
      </p:pic>
      <p:sp>
        <p:nvSpPr>
          <p:cNvPr id="8" name="Text 4"/>
          <p:cNvSpPr/>
          <p:nvPr/>
        </p:nvSpPr>
        <p:spPr>
          <a:xfrm>
            <a:off x="6343789" y="2358330"/>
            <a:ext cx="5006751" cy="251023"/>
          </a:xfrm>
          <a:prstGeom prst="rect">
            <a:avLst/>
          </a:prstGeom>
          <a:noFill/>
          <a:ln/>
        </p:spPr>
        <p:txBody>
          <a:bodyPr wrap="none" lIns="0" tIns="0" rIns="0" bIns="0" rtlCol="0" anchor="t"/>
          <a:lstStyle/>
          <a:p>
            <a:pPr marL="0" indent="0" algn="l">
              <a:lnSpc>
                <a:spcPct val="104000"/>
              </a:lnSpc>
              <a:buNone/>
            </a:pPr>
            <a:r>
              <a:rPr lang="en-US" sz="1550" b="1" dirty="0">
                <a:solidFill>
                  <a:srgbClr val="4A4A45"/>
                </a:solidFill>
                <a:latin typeface="Lato Bold" pitchFamily="34" charset="0"/>
                <a:ea typeface="Lato Bold" pitchFamily="34" charset="-122"/>
                <a:cs typeface="Lato Bold" pitchFamily="34" charset="-120"/>
              </a:rPr>
              <a:t>Backend Security &amp; Files (FastAPI)</a:t>
            </a:r>
            <a:endParaRPr lang="en-US" sz="1550" dirty="0"/>
          </a:p>
        </p:txBody>
      </p:sp>
      <p:sp>
        <p:nvSpPr>
          <p:cNvPr id="9" name="Text 5"/>
          <p:cNvSpPr/>
          <p:nvPr/>
        </p:nvSpPr>
        <p:spPr>
          <a:xfrm>
            <a:off x="6343789" y="2691209"/>
            <a:ext cx="5006751" cy="950912"/>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A4A45"/>
                </a:solidFill>
                <a:latin typeface="Lato" pitchFamily="34" charset="0"/>
                <a:ea typeface="Lato" pitchFamily="34" charset="-122"/>
                <a:cs typeface="Lato" pitchFamily="34" charset="-120"/>
              </a:rPr>
              <a:t>The backend checks the user's login token (auth.py). The upload code checks the file type (only .pdf, .docx, .jpg, .png are allowed) and size (under 5MB). The file is saved in the server's uploads folder with a unique name (main.py).</a:t>
            </a:r>
            <a:endParaRPr lang="en-US" sz="12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4202609"/>
            <a:ext cx="5366112" cy="1779687"/>
          </a:xfrm>
          <a:prstGeom prst="rect">
            <a:avLst/>
          </a:prstGeom>
        </p:spPr>
      </p:pic>
      <p:sp>
        <p:nvSpPr>
          <p:cNvPr id="11" name="Text 6"/>
          <p:cNvSpPr/>
          <p:nvPr/>
        </p:nvSpPr>
        <p:spPr>
          <a:xfrm>
            <a:off x="841156" y="4518819"/>
            <a:ext cx="5006751" cy="251023"/>
          </a:xfrm>
          <a:prstGeom prst="rect">
            <a:avLst/>
          </a:prstGeom>
          <a:noFill/>
          <a:ln/>
        </p:spPr>
        <p:txBody>
          <a:bodyPr wrap="none" lIns="0" tIns="0" rIns="0" bIns="0" rtlCol="0" anchor="t"/>
          <a:lstStyle/>
          <a:p>
            <a:pPr marL="0" indent="0" algn="l">
              <a:lnSpc>
                <a:spcPct val="104000"/>
              </a:lnSpc>
              <a:buNone/>
            </a:pPr>
            <a:r>
              <a:rPr lang="en-US" sz="1550" b="1" dirty="0">
                <a:solidFill>
                  <a:srgbClr val="4A4A45"/>
                </a:solidFill>
                <a:latin typeface="Lato Bold" pitchFamily="34" charset="0"/>
                <a:ea typeface="Lato Bold" pitchFamily="34" charset="-122"/>
                <a:cs typeface="Lato Bold" pitchFamily="34" charset="-120"/>
              </a:rPr>
              <a:t>Database (SQLAlchemy)</a:t>
            </a:r>
            <a:endParaRPr lang="en-US" sz="1550" dirty="0"/>
          </a:p>
        </p:txBody>
      </p:sp>
      <p:sp>
        <p:nvSpPr>
          <p:cNvPr id="12" name="Text 7"/>
          <p:cNvSpPr/>
          <p:nvPr/>
        </p:nvSpPr>
        <p:spPr>
          <a:xfrm>
            <a:off x="841156" y="4851698"/>
            <a:ext cx="5006751" cy="950912"/>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A4A45"/>
                </a:solidFill>
                <a:latin typeface="Lato" pitchFamily="34" charset="0"/>
                <a:ea typeface="Lato" pitchFamily="34" charset="-122"/>
                <a:cs typeface="Lato" pitchFamily="34" charset="-120"/>
              </a:rPr>
              <a:t>The code creates a new comment record linked to the decision (crud_discussion.py). It also saves a log entry in the audit_logs table (who did it, when, and on which decision). The database saves the changes, and the backend sends the new comment back to the frontend.</a:t>
            </a:r>
            <a:endParaRPr lang="en-US" sz="12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64108" y="3961606"/>
            <a:ext cx="5366112" cy="2020689"/>
          </a:xfrm>
          <a:prstGeom prst="rect">
            <a:avLst/>
          </a:prstGeom>
        </p:spPr>
      </p:pic>
      <p:sp>
        <p:nvSpPr>
          <p:cNvPr id="14" name="Text 8"/>
          <p:cNvSpPr/>
          <p:nvPr/>
        </p:nvSpPr>
        <p:spPr>
          <a:xfrm>
            <a:off x="6343789" y="4277816"/>
            <a:ext cx="5006751" cy="251023"/>
          </a:xfrm>
          <a:prstGeom prst="rect">
            <a:avLst/>
          </a:prstGeom>
          <a:noFill/>
          <a:ln/>
        </p:spPr>
        <p:txBody>
          <a:bodyPr wrap="none" lIns="0" tIns="0" rIns="0" bIns="0" rtlCol="0" anchor="t"/>
          <a:lstStyle/>
          <a:p>
            <a:pPr marL="0" indent="0" algn="l">
              <a:lnSpc>
                <a:spcPct val="104000"/>
              </a:lnSpc>
              <a:buNone/>
            </a:pPr>
            <a:r>
              <a:rPr lang="en-US" sz="1550" b="1" dirty="0">
                <a:solidFill>
                  <a:srgbClr val="4A4A45"/>
                </a:solidFill>
                <a:latin typeface="Lato Bold" pitchFamily="34" charset="0"/>
                <a:ea typeface="Lato Bold" pitchFamily="34" charset="-122"/>
                <a:cs typeface="Lato Bold" pitchFamily="34" charset="-120"/>
              </a:rPr>
              <a:t>UI Update</a:t>
            </a:r>
            <a:endParaRPr lang="en-US" sz="1550" dirty="0"/>
          </a:p>
        </p:txBody>
      </p:sp>
      <p:sp>
        <p:nvSpPr>
          <p:cNvPr id="15" name="Text 9"/>
          <p:cNvSpPr/>
          <p:nvPr/>
        </p:nvSpPr>
        <p:spPr>
          <a:xfrm>
            <a:off x="6343789" y="4610695"/>
            <a:ext cx="5006751"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A4A45"/>
                </a:solidFill>
                <a:latin typeface="Lato" pitchFamily="34" charset="0"/>
                <a:ea typeface="Lato" pitchFamily="34" charset="-122"/>
                <a:cs typeface="Lato" pitchFamily="34" charset="-120"/>
              </a:rPr>
              <a:t>The frontend receives the successful response and immediately displays the comment on the screen without reloading the page.</a:t>
            </a:r>
            <a:endParaRPr lang="en-US" sz="1250" dirty="0"/>
          </a:p>
        </p:txBody>
      </p:sp>
      <p:sp>
        <p:nvSpPr>
          <p:cNvPr id="17" name="Rectangle 16">
            <a:extLst>
              <a:ext uri="{FF2B5EF4-FFF2-40B4-BE49-F238E27FC236}">
                <a16:creationId xmlns:a16="http://schemas.microsoft.com/office/drawing/2014/main" id="{8257F2A0-84B6-0E77-D9B0-6DE6965C4C68}"/>
              </a:ext>
            </a:extLst>
          </p:cNvPr>
          <p:cNvSpPr/>
          <p:nvPr/>
        </p:nvSpPr>
        <p:spPr>
          <a:xfrm>
            <a:off x="10842171" y="6484776"/>
            <a:ext cx="1349829" cy="298579"/>
          </a:xfrm>
          <a:prstGeom prst="rect">
            <a:avLst/>
          </a:prstGeom>
          <a:solidFill>
            <a:srgbClr val="EFE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703487"/>
            <a:ext cx="10868745" cy="502047"/>
          </a:xfrm>
          <a:prstGeom prst="rect">
            <a:avLst/>
          </a:prstGeom>
          <a:noFill/>
          <a:ln/>
        </p:spPr>
        <p:txBody>
          <a:bodyPr wrap="none" lIns="0" tIns="0" rIns="0" bIns="0" rtlCol="0" anchor="t"/>
          <a:lstStyle/>
          <a:p>
            <a:pPr marL="0" indent="0" algn="l">
              <a:lnSpc>
                <a:spcPct val="104000"/>
              </a:lnSpc>
              <a:buNone/>
            </a:pPr>
            <a:r>
              <a:rPr lang="en-US" sz="3150" b="1" dirty="0">
                <a:solidFill>
                  <a:srgbClr val="282824"/>
                </a:solidFill>
                <a:latin typeface="Lato Bold" pitchFamily="34" charset="0"/>
                <a:ea typeface="Lato Bold" pitchFamily="34" charset="-122"/>
                <a:cs typeface="Lato Bold" pitchFamily="34" charset="-120"/>
              </a:rPr>
              <a:t>Module Justification</a:t>
            </a:r>
            <a:endParaRPr lang="en-US" sz="3150" dirty="0"/>
          </a:p>
        </p:txBody>
      </p:sp>
      <p:sp>
        <p:nvSpPr>
          <p:cNvPr id="3" name="Shape 1"/>
          <p:cNvSpPr/>
          <p:nvPr/>
        </p:nvSpPr>
        <p:spPr>
          <a:xfrm>
            <a:off x="661475" y="2478584"/>
            <a:ext cx="3531901" cy="2675930"/>
          </a:xfrm>
          <a:prstGeom prst="roundRect">
            <a:avLst>
              <a:gd name="adj" fmla="val 901"/>
            </a:avLst>
          </a:prstGeom>
          <a:solidFill>
            <a:srgbClr val="EFECE6"/>
          </a:solidFill>
          <a:ln w="19050">
            <a:solidFill>
              <a:srgbClr val="CBC5B8"/>
            </a:solidFill>
            <a:prstDash val="solid"/>
          </a:ln>
        </p:spPr>
      </p:sp>
      <p:sp>
        <p:nvSpPr>
          <p:cNvPr id="4" name="Text 2"/>
          <p:cNvSpPr/>
          <p:nvPr/>
        </p:nvSpPr>
        <p:spPr>
          <a:xfrm>
            <a:off x="841156" y="2658269"/>
            <a:ext cx="3172539" cy="251023"/>
          </a:xfrm>
          <a:prstGeom prst="rect">
            <a:avLst/>
          </a:prstGeom>
          <a:noFill/>
          <a:ln/>
        </p:spPr>
        <p:txBody>
          <a:bodyPr wrap="none" lIns="0" tIns="0" rIns="0" bIns="0" rtlCol="0" anchor="t"/>
          <a:lstStyle/>
          <a:p>
            <a:pPr marL="0" indent="0" algn="l">
              <a:lnSpc>
                <a:spcPct val="104000"/>
              </a:lnSpc>
              <a:buNone/>
            </a:pPr>
            <a:r>
              <a:rPr lang="en-US" sz="1550" b="1" dirty="0">
                <a:solidFill>
                  <a:srgbClr val="4A4A45"/>
                </a:solidFill>
                <a:latin typeface="Lato Bold" pitchFamily="34" charset="0"/>
                <a:ea typeface="Lato Bold" pitchFamily="34" charset="-122"/>
                <a:cs typeface="Lato Bold" pitchFamily="34" charset="-120"/>
              </a:rPr>
              <a:t>Decision Management Module</a:t>
            </a:r>
            <a:endParaRPr lang="en-US" sz="1550" dirty="0"/>
          </a:p>
        </p:txBody>
      </p:sp>
      <p:sp>
        <p:nvSpPr>
          <p:cNvPr id="5" name="Text 3"/>
          <p:cNvSpPr/>
          <p:nvPr/>
        </p:nvSpPr>
        <p:spPr>
          <a:xfrm>
            <a:off x="841156" y="2991148"/>
            <a:ext cx="3172539" cy="1983680"/>
          </a:xfrm>
          <a:prstGeom prst="rect">
            <a:avLst/>
          </a:prstGeom>
          <a:noFill/>
          <a:ln/>
        </p:spPr>
        <p:txBody>
          <a:bodyPr wrap="square" lIns="0" tIns="0" rIns="0" bIns="0" rtlCol="0" anchor="t">
            <a:normAutofit/>
          </a:bodyPr>
          <a:lstStyle/>
          <a:p>
            <a:pPr marL="0" indent="0" algn="l">
              <a:lnSpc>
                <a:spcPct val="123000"/>
              </a:lnSpc>
              <a:spcAft>
                <a:spcPts val="600"/>
              </a:spcAft>
              <a:buNone/>
            </a:pPr>
            <a:r>
              <a:rPr lang="en-US" sz="1250" b="1" dirty="0">
                <a:solidFill>
                  <a:srgbClr val="4A4A45"/>
                </a:solidFill>
                <a:latin typeface="Lato Bold" pitchFamily="34" charset="0"/>
                <a:ea typeface="Lato Bold" pitchFamily="34" charset="-122"/>
                <a:cs typeface="Lato Bold" pitchFamily="34" charset="-120"/>
              </a:rPr>
              <a:t>Problem:</a:t>
            </a:r>
            <a:r>
              <a:rPr lang="en-US" sz="1250" dirty="0">
                <a:solidFill>
                  <a:srgbClr val="4A4A45"/>
                </a:solidFill>
                <a:latin typeface="Lato" pitchFamily="34" charset="0"/>
                <a:ea typeface="Lato" pitchFamily="34" charset="-122"/>
                <a:cs typeface="Lato" pitchFamily="34" charset="-120"/>
              </a:rPr>
              <a:t> Teams make decisions on chat apps like Slack or in quick meetings. The details get lost quickly, and nobody remembers the final choice weeks later.</a:t>
            </a:r>
            <a:endParaRPr lang="en-US" sz="1250" dirty="0"/>
          </a:p>
          <a:p>
            <a:pPr marL="0" indent="0" algn="l">
              <a:lnSpc>
                <a:spcPct val="123000"/>
              </a:lnSpc>
              <a:buNone/>
            </a:pPr>
            <a:r>
              <a:rPr lang="en-US" sz="1250" b="1" dirty="0">
                <a:solidFill>
                  <a:srgbClr val="4A4A45"/>
                </a:solidFill>
                <a:latin typeface="Lato Bold" pitchFamily="34" charset="0"/>
                <a:ea typeface="Lato Bold" pitchFamily="34" charset="-122"/>
                <a:cs typeface="Lato Bold" pitchFamily="34" charset="-120"/>
              </a:rPr>
              <a:t>Solution:</a:t>
            </a:r>
            <a:r>
              <a:rPr lang="en-US" sz="1250" dirty="0">
                <a:solidFill>
                  <a:srgbClr val="4A4A45"/>
                </a:solidFill>
                <a:latin typeface="Lato" pitchFamily="34" charset="0"/>
                <a:ea typeface="Lato" pitchFamily="34" charset="-122"/>
                <a:cs typeface="Lato" pitchFamily="34" charset="-120"/>
              </a:rPr>
              <a:t> Gives the team a single place to write down the problem, the category, and track the status (Draft → Under Review → Approved).</a:t>
            </a:r>
            <a:endParaRPr lang="en-US" sz="1250" dirty="0"/>
          </a:p>
        </p:txBody>
      </p:sp>
      <p:sp>
        <p:nvSpPr>
          <p:cNvPr id="6" name="Shape 4"/>
          <p:cNvSpPr/>
          <p:nvPr/>
        </p:nvSpPr>
        <p:spPr>
          <a:xfrm>
            <a:off x="4329897" y="2478584"/>
            <a:ext cx="3531901" cy="2675930"/>
          </a:xfrm>
          <a:prstGeom prst="roundRect">
            <a:avLst>
              <a:gd name="adj" fmla="val 901"/>
            </a:avLst>
          </a:prstGeom>
          <a:solidFill>
            <a:srgbClr val="EFECE6"/>
          </a:solidFill>
          <a:ln w="19050">
            <a:solidFill>
              <a:srgbClr val="CBC5B8"/>
            </a:solidFill>
            <a:prstDash val="solid"/>
          </a:ln>
        </p:spPr>
      </p:sp>
      <p:sp>
        <p:nvSpPr>
          <p:cNvPr id="7" name="Text 5"/>
          <p:cNvSpPr/>
          <p:nvPr/>
        </p:nvSpPr>
        <p:spPr>
          <a:xfrm>
            <a:off x="4509578" y="2658269"/>
            <a:ext cx="3172539" cy="251023"/>
          </a:xfrm>
          <a:prstGeom prst="rect">
            <a:avLst/>
          </a:prstGeom>
          <a:noFill/>
          <a:ln/>
        </p:spPr>
        <p:txBody>
          <a:bodyPr wrap="none" lIns="0" tIns="0" rIns="0" bIns="0" rtlCol="0" anchor="t"/>
          <a:lstStyle/>
          <a:p>
            <a:pPr marL="0" indent="0" algn="l">
              <a:lnSpc>
                <a:spcPct val="104000"/>
              </a:lnSpc>
              <a:buNone/>
            </a:pPr>
            <a:r>
              <a:rPr lang="en-US" sz="1550" b="1" dirty="0">
                <a:solidFill>
                  <a:srgbClr val="4A4A45"/>
                </a:solidFill>
                <a:latin typeface="Lato Bold" pitchFamily="34" charset="0"/>
                <a:ea typeface="Lato Bold" pitchFamily="34" charset="-122"/>
                <a:cs typeface="Lato Bold" pitchFamily="34" charset="-120"/>
              </a:rPr>
              <a:t>Version History Module</a:t>
            </a:r>
            <a:endParaRPr lang="en-US" sz="1550" dirty="0"/>
          </a:p>
        </p:txBody>
      </p:sp>
      <p:sp>
        <p:nvSpPr>
          <p:cNvPr id="8" name="Text 6"/>
          <p:cNvSpPr/>
          <p:nvPr/>
        </p:nvSpPr>
        <p:spPr>
          <a:xfrm>
            <a:off x="4509578" y="2991148"/>
            <a:ext cx="3172539" cy="1983680"/>
          </a:xfrm>
          <a:prstGeom prst="rect">
            <a:avLst/>
          </a:prstGeom>
          <a:noFill/>
          <a:ln/>
        </p:spPr>
        <p:txBody>
          <a:bodyPr wrap="square" lIns="0" tIns="0" rIns="0" bIns="0" rtlCol="0" anchor="t">
            <a:normAutofit/>
          </a:bodyPr>
          <a:lstStyle/>
          <a:p>
            <a:pPr marL="0" indent="0" algn="l">
              <a:lnSpc>
                <a:spcPct val="123000"/>
              </a:lnSpc>
              <a:spcAft>
                <a:spcPts val="600"/>
              </a:spcAft>
              <a:buNone/>
            </a:pPr>
            <a:r>
              <a:rPr lang="en-US" sz="1250" b="1" dirty="0">
                <a:solidFill>
                  <a:srgbClr val="4A4A45"/>
                </a:solidFill>
                <a:latin typeface="Lato Bold" pitchFamily="34" charset="0"/>
                <a:ea typeface="Lato Bold" pitchFamily="34" charset="-122"/>
                <a:cs typeface="Lato Bold" pitchFamily="34" charset="-120"/>
              </a:rPr>
              <a:t>Problem:</a:t>
            </a:r>
            <a:r>
              <a:rPr lang="en-US" sz="1250" dirty="0">
                <a:solidFill>
                  <a:srgbClr val="4A4A45"/>
                </a:solidFill>
                <a:latin typeface="Lato" pitchFamily="34" charset="0"/>
                <a:ea typeface="Lato" pitchFamily="34" charset="-122"/>
                <a:cs typeface="Lato" pitchFamily="34" charset="-120"/>
              </a:rPr>
              <a:t> A decision might be updated multiple times. If someone edits the text, the original ideas and approvals are lost.</a:t>
            </a:r>
            <a:endParaRPr lang="en-US" sz="1250" dirty="0"/>
          </a:p>
          <a:p>
            <a:pPr marL="0" indent="0" algn="l">
              <a:lnSpc>
                <a:spcPct val="123000"/>
              </a:lnSpc>
              <a:buNone/>
            </a:pPr>
            <a:r>
              <a:rPr lang="en-US" sz="1250" b="1" dirty="0">
                <a:solidFill>
                  <a:srgbClr val="4A4A45"/>
                </a:solidFill>
                <a:latin typeface="Lato Bold" pitchFamily="34" charset="0"/>
                <a:ea typeface="Lato Bold" pitchFamily="34" charset="-122"/>
                <a:cs typeface="Lato Bold" pitchFamily="34" charset="-120"/>
              </a:rPr>
              <a:t>Solution:</a:t>
            </a:r>
            <a:r>
              <a:rPr lang="en-US" sz="1250" dirty="0">
                <a:solidFill>
                  <a:srgbClr val="4A4A45"/>
                </a:solidFill>
                <a:latin typeface="Lato" pitchFamily="34" charset="0"/>
                <a:ea typeface="Lato" pitchFamily="34" charset="-122"/>
                <a:cs typeface="Lato" pitchFamily="34" charset="-120"/>
              </a:rPr>
              <a:t> The system saves a backup copy (DecisionVersion in database) every time a decision is edited. If a mistake is made, you can click "Restore" to go back to any older version.</a:t>
            </a:r>
            <a:endParaRPr lang="en-US" sz="1250" dirty="0"/>
          </a:p>
        </p:txBody>
      </p:sp>
      <p:sp>
        <p:nvSpPr>
          <p:cNvPr id="9" name="Shape 7"/>
          <p:cNvSpPr/>
          <p:nvPr/>
        </p:nvSpPr>
        <p:spPr>
          <a:xfrm>
            <a:off x="7998319" y="2478584"/>
            <a:ext cx="3531901" cy="2675930"/>
          </a:xfrm>
          <a:prstGeom prst="roundRect">
            <a:avLst>
              <a:gd name="adj" fmla="val 901"/>
            </a:avLst>
          </a:prstGeom>
          <a:solidFill>
            <a:srgbClr val="EFECE6"/>
          </a:solidFill>
          <a:ln w="19050">
            <a:solidFill>
              <a:srgbClr val="CBC5B8"/>
            </a:solidFill>
            <a:prstDash val="solid"/>
          </a:ln>
        </p:spPr>
      </p:sp>
      <p:sp>
        <p:nvSpPr>
          <p:cNvPr id="10" name="Text 8"/>
          <p:cNvSpPr/>
          <p:nvPr/>
        </p:nvSpPr>
        <p:spPr>
          <a:xfrm>
            <a:off x="8178000" y="2658269"/>
            <a:ext cx="3172539" cy="251023"/>
          </a:xfrm>
          <a:prstGeom prst="rect">
            <a:avLst/>
          </a:prstGeom>
          <a:noFill/>
          <a:ln/>
        </p:spPr>
        <p:txBody>
          <a:bodyPr wrap="none" lIns="0" tIns="0" rIns="0" bIns="0" rtlCol="0" anchor="t"/>
          <a:lstStyle/>
          <a:p>
            <a:pPr marL="0" indent="0" algn="l">
              <a:lnSpc>
                <a:spcPct val="104000"/>
              </a:lnSpc>
              <a:buNone/>
            </a:pPr>
            <a:r>
              <a:rPr lang="en-US" sz="1550" b="1" dirty="0">
                <a:solidFill>
                  <a:srgbClr val="4A4A45"/>
                </a:solidFill>
                <a:latin typeface="Lato Bold" pitchFamily="34" charset="0"/>
                <a:ea typeface="Lato Bold" pitchFamily="34" charset="-122"/>
                <a:cs typeface="Lato Bold" pitchFamily="34" charset="-120"/>
              </a:rPr>
              <a:t>Alternatives Comparison Module</a:t>
            </a:r>
            <a:endParaRPr lang="en-US" sz="1550" dirty="0"/>
          </a:p>
        </p:txBody>
      </p:sp>
      <p:sp>
        <p:nvSpPr>
          <p:cNvPr id="11" name="Text 9"/>
          <p:cNvSpPr/>
          <p:nvPr/>
        </p:nvSpPr>
        <p:spPr>
          <a:xfrm>
            <a:off x="8178000" y="2991148"/>
            <a:ext cx="3172539" cy="1745952"/>
          </a:xfrm>
          <a:prstGeom prst="rect">
            <a:avLst/>
          </a:prstGeom>
          <a:noFill/>
          <a:ln/>
        </p:spPr>
        <p:txBody>
          <a:bodyPr wrap="square" lIns="0" tIns="0" rIns="0" bIns="0" rtlCol="0" anchor="t">
            <a:normAutofit/>
          </a:bodyPr>
          <a:lstStyle/>
          <a:p>
            <a:pPr marL="0" indent="0" algn="l">
              <a:lnSpc>
                <a:spcPct val="123000"/>
              </a:lnSpc>
              <a:spcAft>
                <a:spcPts val="600"/>
              </a:spcAft>
              <a:buNone/>
            </a:pPr>
            <a:r>
              <a:rPr lang="en-US" sz="1250" b="1" dirty="0">
                <a:solidFill>
                  <a:srgbClr val="4A4A45"/>
                </a:solidFill>
                <a:latin typeface="Lato Bold" pitchFamily="34" charset="0"/>
                <a:ea typeface="Lato Bold" pitchFamily="34" charset="-122"/>
                <a:cs typeface="Lato Bold" pitchFamily="34" charset="-120"/>
              </a:rPr>
              <a:t>Problem:</a:t>
            </a:r>
            <a:r>
              <a:rPr lang="en-US" sz="1250" dirty="0">
                <a:solidFill>
                  <a:srgbClr val="4A4A45"/>
                </a:solidFill>
                <a:latin typeface="Lato" pitchFamily="34" charset="0"/>
                <a:ea typeface="Lato" pitchFamily="34" charset="-122"/>
                <a:cs typeface="Lato" pitchFamily="34" charset="-120"/>
              </a:rPr>
              <a:t> Teams often pick the first idea they have without writing down other options, their costs, or their risks.</a:t>
            </a:r>
            <a:endParaRPr lang="en-US" sz="1250" dirty="0"/>
          </a:p>
          <a:p>
            <a:pPr marL="0" indent="0" algn="l">
              <a:lnSpc>
                <a:spcPct val="123000"/>
              </a:lnSpc>
              <a:buNone/>
            </a:pPr>
            <a:r>
              <a:rPr lang="en-US" sz="1250" b="1" dirty="0">
                <a:solidFill>
                  <a:srgbClr val="4A4A45"/>
                </a:solidFill>
                <a:latin typeface="Lato Bold" pitchFamily="34" charset="0"/>
                <a:ea typeface="Lato Bold" pitchFamily="34" charset="-122"/>
                <a:cs typeface="Lato Bold" pitchFamily="34" charset="-120"/>
              </a:rPr>
              <a:t>Solution:</a:t>
            </a:r>
            <a:r>
              <a:rPr lang="en-US" sz="1250" dirty="0">
                <a:solidFill>
                  <a:srgbClr val="4A4A45"/>
                </a:solidFill>
                <a:latin typeface="Lato" pitchFamily="34" charset="0"/>
                <a:ea typeface="Lato" pitchFamily="34" charset="-122"/>
                <a:cs typeface="Lato" pitchFamily="34" charset="-120"/>
              </a:rPr>
              <a:t> Lets users add multiple options (alternatives) to one decision. You can view pros/cons, cost, risk, and feasibility side-by-side to make a smart choice.</a:t>
            </a:r>
            <a:endParaRPr lang="en-US" sz="1250" dirty="0"/>
          </a:p>
        </p:txBody>
      </p:sp>
      <p:sp>
        <p:nvSpPr>
          <p:cNvPr id="13" name="Rectangle 12">
            <a:extLst>
              <a:ext uri="{FF2B5EF4-FFF2-40B4-BE49-F238E27FC236}">
                <a16:creationId xmlns:a16="http://schemas.microsoft.com/office/drawing/2014/main" id="{C79F220F-D710-6B4A-1F45-B46B46522D06}"/>
              </a:ext>
            </a:extLst>
          </p:cNvPr>
          <p:cNvSpPr/>
          <p:nvPr/>
        </p:nvSpPr>
        <p:spPr>
          <a:xfrm>
            <a:off x="10851502" y="6484776"/>
            <a:ext cx="1349829" cy="298579"/>
          </a:xfrm>
          <a:prstGeom prst="rect">
            <a:avLst/>
          </a:prstGeom>
          <a:solidFill>
            <a:srgbClr val="EFE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410692"/>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282824"/>
                </a:solidFill>
                <a:latin typeface="Lato Bold" pitchFamily="34" charset="0"/>
                <a:ea typeface="Lato Bold" pitchFamily="34" charset="-122"/>
                <a:cs typeface="Lato Bold" pitchFamily="34" charset="-120"/>
              </a:rPr>
              <a:t>Module Justification (Continued)</a:t>
            </a:r>
            <a:endParaRPr lang="en-US" sz="3700" dirty="0"/>
          </a:p>
        </p:txBody>
      </p:sp>
      <p:sp>
        <p:nvSpPr>
          <p:cNvPr id="3" name="Shape 1"/>
          <p:cNvSpPr/>
          <p:nvPr/>
        </p:nvSpPr>
        <p:spPr>
          <a:xfrm>
            <a:off x="661475" y="2379365"/>
            <a:ext cx="5339820" cy="3067844"/>
          </a:xfrm>
          <a:prstGeom prst="roundRect">
            <a:avLst>
              <a:gd name="adj" fmla="val 924"/>
            </a:avLst>
          </a:prstGeom>
          <a:solidFill>
            <a:srgbClr val="EFECE6"/>
          </a:solidFill>
          <a:ln w="25399">
            <a:solidFill>
              <a:srgbClr val="CBC5B8"/>
            </a:solidFill>
            <a:prstDash val="solid"/>
          </a:ln>
        </p:spPr>
      </p:sp>
      <p:sp>
        <p:nvSpPr>
          <p:cNvPr id="4" name="Text 2"/>
          <p:cNvSpPr/>
          <p:nvPr/>
        </p:nvSpPr>
        <p:spPr>
          <a:xfrm>
            <a:off x="875881" y="2593777"/>
            <a:ext cx="4911007" cy="295275"/>
          </a:xfrm>
          <a:prstGeom prst="rect">
            <a:avLst/>
          </a:prstGeom>
          <a:noFill/>
          <a:ln/>
        </p:spPr>
        <p:txBody>
          <a:bodyPr wrap="none" lIns="0" tIns="0" rIns="0" bIns="0" rtlCol="0" anchor="t"/>
          <a:lstStyle/>
          <a:p>
            <a:pPr marL="0" indent="0" algn="l">
              <a:lnSpc>
                <a:spcPct val="104000"/>
              </a:lnSpc>
              <a:buNone/>
            </a:pPr>
            <a:r>
              <a:rPr lang="en-US" sz="1850" b="1" dirty="0">
                <a:solidFill>
                  <a:srgbClr val="4A4A45"/>
                </a:solidFill>
                <a:latin typeface="Lato Bold" pitchFamily="34" charset="0"/>
                <a:ea typeface="Lato Bold" pitchFamily="34" charset="-122"/>
                <a:cs typeface="Lato Bold" pitchFamily="34" charset="-120"/>
              </a:rPr>
              <a:t>File Upload Module</a:t>
            </a:r>
            <a:endParaRPr lang="en-US" sz="1850" dirty="0"/>
          </a:p>
        </p:txBody>
      </p:sp>
      <p:sp>
        <p:nvSpPr>
          <p:cNvPr id="5" name="Text 3"/>
          <p:cNvSpPr/>
          <p:nvPr/>
        </p:nvSpPr>
        <p:spPr>
          <a:xfrm>
            <a:off x="875881" y="3002459"/>
            <a:ext cx="4911007" cy="1927920"/>
          </a:xfrm>
          <a:prstGeom prst="rect">
            <a:avLst/>
          </a:prstGeom>
          <a:noFill/>
          <a:ln/>
        </p:spPr>
        <p:txBody>
          <a:bodyPr wrap="square" lIns="0" tIns="0" rIns="0" bIns="0" rtlCol="0" anchor="t">
            <a:normAutofit/>
          </a:bodyPr>
          <a:lstStyle/>
          <a:p>
            <a:pPr marL="0" indent="0" algn="l">
              <a:lnSpc>
                <a:spcPct val="133000"/>
              </a:lnSpc>
              <a:spcAft>
                <a:spcPts val="850"/>
              </a:spcAft>
              <a:buNone/>
            </a:pPr>
            <a:r>
              <a:rPr lang="en-US" sz="1450" b="1" dirty="0">
                <a:solidFill>
                  <a:srgbClr val="4A4A45"/>
                </a:solidFill>
                <a:latin typeface="Lato Bold" pitchFamily="34" charset="0"/>
                <a:ea typeface="Lato Bold" pitchFamily="34" charset="-122"/>
                <a:cs typeface="Lato Bold" pitchFamily="34" charset="-120"/>
              </a:rPr>
              <a:t>Problem:</a:t>
            </a:r>
            <a:r>
              <a:rPr lang="en-US" sz="1450" dirty="0">
                <a:solidFill>
                  <a:srgbClr val="4A4A45"/>
                </a:solidFill>
                <a:latin typeface="Lato" pitchFamily="34" charset="0"/>
                <a:ea typeface="Lato" pitchFamily="34" charset="-122"/>
                <a:cs typeface="Lato" pitchFamily="34" charset="-120"/>
              </a:rPr>
              <a:t> Teams refer to external charts, mockups, or documents. Storing links in shared drives can break, or team members might lose access.</a:t>
            </a:r>
            <a:endParaRPr lang="en-US" sz="1450" dirty="0"/>
          </a:p>
          <a:p>
            <a:pPr marL="0" indent="0" algn="l">
              <a:lnSpc>
                <a:spcPct val="133000"/>
              </a:lnSpc>
              <a:buNone/>
            </a:pPr>
            <a:r>
              <a:rPr lang="en-US" sz="1450" b="1" dirty="0">
                <a:solidFill>
                  <a:srgbClr val="4A4A45"/>
                </a:solidFill>
                <a:latin typeface="Lato Bold" pitchFamily="34" charset="0"/>
                <a:ea typeface="Lato Bold" pitchFamily="34" charset="-122"/>
                <a:cs typeface="Lato Bold" pitchFamily="34" charset="-120"/>
              </a:rPr>
              <a:t>Solution:</a:t>
            </a:r>
            <a:r>
              <a:rPr lang="en-US" sz="1450" dirty="0">
                <a:solidFill>
                  <a:srgbClr val="4A4A45"/>
                </a:solidFill>
                <a:latin typeface="Lato" pitchFamily="34" charset="0"/>
                <a:ea typeface="Lato" pitchFamily="34" charset="-122"/>
                <a:cs typeface="Lato" pitchFamily="34" charset="-120"/>
              </a:rPr>
              <a:t> Lets you upload documents directly into the app. Files are saved securely on the server and are always visible to anyone viewing the decision.</a:t>
            </a:r>
            <a:endParaRPr lang="en-US" sz="1450" dirty="0"/>
          </a:p>
        </p:txBody>
      </p:sp>
      <p:sp>
        <p:nvSpPr>
          <p:cNvPr id="6" name="Shape 4"/>
          <p:cNvSpPr/>
          <p:nvPr/>
        </p:nvSpPr>
        <p:spPr>
          <a:xfrm>
            <a:off x="6190301" y="2379365"/>
            <a:ext cx="5339919" cy="3067844"/>
          </a:xfrm>
          <a:prstGeom prst="roundRect">
            <a:avLst>
              <a:gd name="adj" fmla="val 924"/>
            </a:avLst>
          </a:prstGeom>
          <a:solidFill>
            <a:srgbClr val="EFECE6"/>
          </a:solidFill>
          <a:ln w="25399">
            <a:solidFill>
              <a:srgbClr val="CBC5B8"/>
            </a:solidFill>
            <a:prstDash val="solid"/>
          </a:ln>
        </p:spPr>
      </p:sp>
      <p:sp>
        <p:nvSpPr>
          <p:cNvPr id="7" name="Text 5"/>
          <p:cNvSpPr/>
          <p:nvPr/>
        </p:nvSpPr>
        <p:spPr>
          <a:xfrm>
            <a:off x="6404708" y="2593777"/>
            <a:ext cx="4911106" cy="295275"/>
          </a:xfrm>
          <a:prstGeom prst="rect">
            <a:avLst/>
          </a:prstGeom>
          <a:noFill/>
          <a:ln/>
        </p:spPr>
        <p:txBody>
          <a:bodyPr wrap="none" lIns="0" tIns="0" rIns="0" bIns="0" rtlCol="0" anchor="t"/>
          <a:lstStyle/>
          <a:p>
            <a:pPr marL="0" indent="0" algn="l">
              <a:lnSpc>
                <a:spcPct val="104000"/>
              </a:lnSpc>
              <a:buNone/>
            </a:pPr>
            <a:r>
              <a:rPr lang="en-US" sz="1850" b="1" dirty="0">
                <a:solidFill>
                  <a:srgbClr val="4A4A45"/>
                </a:solidFill>
                <a:latin typeface="Lato Bold" pitchFamily="34" charset="0"/>
                <a:ea typeface="Lato Bold" pitchFamily="34" charset="-122"/>
                <a:cs typeface="Lato Bold" pitchFamily="34" charset="-120"/>
              </a:rPr>
              <a:t>Discussion &amp; Meeting Notes Module</a:t>
            </a:r>
            <a:endParaRPr lang="en-US" sz="1850" dirty="0"/>
          </a:p>
        </p:txBody>
      </p:sp>
      <p:sp>
        <p:nvSpPr>
          <p:cNvPr id="8" name="Text 6"/>
          <p:cNvSpPr/>
          <p:nvPr/>
        </p:nvSpPr>
        <p:spPr>
          <a:xfrm>
            <a:off x="6404708" y="3002459"/>
            <a:ext cx="4911106" cy="2230338"/>
          </a:xfrm>
          <a:prstGeom prst="rect">
            <a:avLst/>
          </a:prstGeom>
          <a:noFill/>
          <a:ln/>
        </p:spPr>
        <p:txBody>
          <a:bodyPr wrap="square" lIns="0" tIns="0" rIns="0" bIns="0" rtlCol="0" anchor="t">
            <a:normAutofit/>
          </a:bodyPr>
          <a:lstStyle/>
          <a:p>
            <a:pPr marL="0" indent="0" algn="l">
              <a:lnSpc>
                <a:spcPct val="133000"/>
              </a:lnSpc>
              <a:spcAft>
                <a:spcPts val="850"/>
              </a:spcAft>
              <a:buNone/>
            </a:pPr>
            <a:r>
              <a:rPr lang="en-US" sz="1450" b="1" dirty="0">
                <a:solidFill>
                  <a:srgbClr val="4A4A45"/>
                </a:solidFill>
                <a:latin typeface="Lato Bold" pitchFamily="34" charset="0"/>
                <a:ea typeface="Lato Bold" pitchFamily="34" charset="-122"/>
                <a:cs typeface="Lato Bold" pitchFamily="34" charset="-120"/>
              </a:rPr>
              <a:t>Problem:</a:t>
            </a:r>
            <a:r>
              <a:rPr lang="en-US" sz="1450" dirty="0">
                <a:solidFill>
                  <a:srgbClr val="4A4A45"/>
                </a:solidFill>
                <a:latin typeface="Lato" pitchFamily="34" charset="0"/>
                <a:ea typeface="Lato" pitchFamily="34" charset="-122"/>
                <a:cs typeface="Lato" pitchFamily="34" charset="-120"/>
              </a:rPr>
              <a:t> Conversations about a decision happen all over the place (emails, meetings, chats). People who look at the decision later cannot see why the team agreed or disagreed.</a:t>
            </a:r>
            <a:endParaRPr lang="en-US" sz="1450" dirty="0"/>
          </a:p>
          <a:p>
            <a:pPr marL="0" indent="0" algn="l">
              <a:lnSpc>
                <a:spcPct val="133000"/>
              </a:lnSpc>
              <a:buNone/>
            </a:pPr>
            <a:r>
              <a:rPr lang="en-US" sz="1450" b="1" dirty="0">
                <a:solidFill>
                  <a:srgbClr val="4A4A45"/>
                </a:solidFill>
                <a:latin typeface="Lato Bold" pitchFamily="34" charset="0"/>
                <a:ea typeface="Lato Bold" pitchFamily="34" charset="-122"/>
                <a:cs typeface="Lato Bold" pitchFamily="34" charset="-120"/>
              </a:rPr>
              <a:t>Solution:</a:t>
            </a:r>
            <a:r>
              <a:rPr lang="en-US" sz="1450" dirty="0">
                <a:solidFill>
                  <a:srgbClr val="4A4A45"/>
                </a:solidFill>
                <a:latin typeface="Lato" pitchFamily="34" charset="0"/>
                <a:ea typeface="Lato" pitchFamily="34" charset="-122"/>
                <a:cs typeface="Lato" pitchFamily="34" charset="-120"/>
              </a:rPr>
              <a:t> Places a message board directly inside the decision page. Teams can have normal discussions, write nested replies to specific questions, or post formal meeting notes.</a:t>
            </a:r>
            <a:endParaRPr lang="en-US" sz="1450" dirty="0"/>
          </a:p>
        </p:txBody>
      </p:sp>
      <p:sp>
        <p:nvSpPr>
          <p:cNvPr id="10" name="Rectangle 9">
            <a:extLst>
              <a:ext uri="{FF2B5EF4-FFF2-40B4-BE49-F238E27FC236}">
                <a16:creationId xmlns:a16="http://schemas.microsoft.com/office/drawing/2014/main" id="{74558AE9-C285-907A-061A-978E5A6279B1}"/>
              </a:ext>
            </a:extLst>
          </p:cNvPr>
          <p:cNvSpPr/>
          <p:nvPr/>
        </p:nvSpPr>
        <p:spPr>
          <a:xfrm>
            <a:off x="10842171" y="6484776"/>
            <a:ext cx="1349829" cy="298579"/>
          </a:xfrm>
          <a:prstGeom prst="rect">
            <a:avLst/>
          </a:prstGeom>
          <a:solidFill>
            <a:srgbClr val="EFE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BCDF12F-21EC-E4D3-9C64-863AE5429DB9}"/>
              </a:ext>
            </a:extLst>
          </p:cNvPr>
          <p:cNvPicPr>
            <a:picLocks noChangeAspect="1"/>
          </p:cNvPicPr>
          <p:nvPr/>
        </p:nvPicPr>
        <p:blipFill>
          <a:blip r:embed="rId3"/>
          <a:stretch>
            <a:fillRect/>
          </a:stretch>
        </p:blipFill>
        <p:spPr>
          <a:xfrm>
            <a:off x="1110343" y="137040"/>
            <a:ext cx="9545216" cy="6858000"/>
          </a:xfrm>
          <a:prstGeom prst="rect">
            <a:avLst/>
          </a:prstGeom>
        </p:spPr>
      </p:pic>
      <p:sp>
        <p:nvSpPr>
          <p:cNvPr id="2" name="Text 0"/>
          <p:cNvSpPr/>
          <p:nvPr/>
        </p:nvSpPr>
        <p:spPr>
          <a:xfrm>
            <a:off x="297582" y="175822"/>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282824"/>
                </a:solidFill>
                <a:latin typeface="Lato Bold" pitchFamily="34" charset="0"/>
                <a:ea typeface="Lato Bold" pitchFamily="34" charset="-122"/>
                <a:cs typeface="Lato Bold" pitchFamily="34" charset="-120"/>
              </a:rPr>
              <a:t>ER diagram</a:t>
            </a:r>
            <a:endParaRPr lang="en-US" sz="3700" dirty="0"/>
          </a:p>
        </p:txBody>
      </p:sp>
      <p:sp>
        <p:nvSpPr>
          <p:cNvPr id="4" name="Rectangle 3">
            <a:extLst>
              <a:ext uri="{FF2B5EF4-FFF2-40B4-BE49-F238E27FC236}">
                <a16:creationId xmlns:a16="http://schemas.microsoft.com/office/drawing/2014/main" id="{0308C962-72D2-FC6F-3AF3-5994E17AFF56}"/>
              </a:ext>
            </a:extLst>
          </p:cNvPr>
          <p:cNvSpPr/>
          <p:nvPr/>
        </p:nvSpPr>
        <p:spPr>
          <a:xfrm>
            <a:off x="10842171" y="6484776"/>
            <a:ext cx="1349829" cy="298579"/>
          </a:xfrm>
          <a:prstGeom prst="rect">
            <a:avLst/>
          </a:prstGeom>
          <a:solidFill>
            <a:srgbClr val="EFE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77069"/>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282824"/>
                </a:solidFill>
                <a:latin typeface="Lato Bold" pitchFamily="34" charset="0"/>
                <a:ea typeface="Lato Bold" pitchFamily="34" charset="-122"/>
                <a:cs typeface="Lato Bold" pitchFamily="34" charset="-120"/>
              </a:rPr>
              <a:t>Security, Audit &amp; Operations</a:t>
            </a:r>
            <a:endParaRPr lang="en-US" sz="3700" dirty="0"/>
          </a:p>
        </p:txBody>
      </p:sp>
      <p:sp>
        <p:nvSpPr>
          <p:cNvPr id="3" name="Text 1"/>
          <p:cNvSpPr/>
          <p:nvPr/>
        </p:nvSpPr>
        <p:spPr>
          <a:xfrm>
            <a:off x="661475" y="1740198"/>
            <a:ext cx="5203794" cy="295275"/>
          </a:xfrm>
          <a:prstGeom prst="rect">
            <a:avLst/>
          </a:prstGeom>
          <a:noFill/>
          <a:ln/>
        </p:spPr>
        <p:txBody>
          <a:bodyPr wrap="none" lIns="0" tIns="0" rIns="0" bIns="0" rtlCol="0" anchor="t"/>
          <a:lstStyle/>
          <a:p>
            <a:pPr marL="0" indent="0" algn="l">
              <a:lnSpc>
                <a:spcPct val="104000"/>
              </a:lnSpc>
              <a:buNone/>
            </a:pPr>
            <a:r>
              <a:rPr lang="en-US" sz="1850" b="1" dirty="0">
                <a:solidFill>
                  <a:srgbClr val="282824"/>
                </a:solidFill>
                <a:latin typeface="Lato Bold" pitchFamily="34" charset="0"/>
                <a:ea typeface="Lato Bold" pitchFamily="34" charset="-122"/>
                <a:cs typeface="Lato Bold" pitchFamily="34" charset="-120"/>
              </a:rPr>
              <a:t>Security</a:t>
            </a:r>
            <a:endParaRPr lang="en-US" sz="1850" dirty="0"/>
          </a:p>
        </p:txBody>
      </p:sp>
      <p:sp>
        <p:nvSpPr>
          <p:cNvPr id="4" name="Text 2"/>
          <p:cNvSpPr/>
          <p:nvPr/>
        </p:nvSpPr>
        <p:spPr>
          <a:xfrm>
            <a:off x="661475" y="2224484"/>
            <a:ext cx="5203794" cy="97333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JWT authentication + role checks (author, reviewer, admin).</a:t>
            </a:r>
            <a:endParaRPr lang="en-US" sz="1450" dirty="0"/>
          </a:p>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File safety: MIME/extension validation, size limits, unique non-guessable filenames.</a:t>
            </a:r>
            <a:endParaRPr lang="en-US" sz="1450" dirty="0"/>
          </a:p>
        </p:txBody>
      </p:sp>
      <p:sp>
        <p:nvSpPr>
          <p:cNvPr id="5" name="Text 3"/>
          <p:cNvSpPr/>
          <p:nvPr/>
        </p:nvSpPr>
        <p:spPr>
          <a:xfrm>
            <a:off x="661475" y="3386832"/>
            <a:ext cx="5203794" cy="295275"/>
          </a:xfrm>
          <a:prstGeom prst="rect">
            <a:avLst/>
          </a:prstGeom>
          <a:noFill/>
          <a:ln/>
        </p:spPr>
        <p:txBody>
          <a:bodyPr wrap="none" lIns="0" tIns="0" rIns="0" bIns="0" rtlCol="0" anchor="t"/>
          <a:lstStyle/>
          <a:p>
            <a:pPr marL="0" indent="0" algn="l">
              <a:lnSpc>
                <a:spcPct val="104000"/>
              </a:lnSpc>
              <a:buNone/>
            </a:pPr>
            <a:r>
              <a:rPr lang="en-US" sz="1850" b="1" dirty="0">
                <a:solidFill>
                  <a:srgbClr val="282824"/>
                </a:solidFill>
                <a:latin typeface="Lato Bold" pitchFamily="34" charset="0"/>
                <a:ea typeface="Lato Bold" pitchFamily="34" charset="-122"/>
                <a:cs typeface="Lato Bold" pitchFamily="34" charset="-120"/>
              </a:rPr>
              <a:t>Audit</a:t>
            </a:r>
            <a:endParaRPr lang="en-US" sz="1850" dirty="0"/>
          </a:p>
        </p:txBody>
      </p:sp>
      <p:sp>
        <p:nvSpPr>
          <p:cNvPr id="6" name="Text 4"/>
          <p:cNvSpPr/>
          <p:nvPr/>
        </p:nvSpPr>
        <p:spPr>
          <a:xfrm>
            <a:off x="661475" y="3871119"/>
            <a:ext cx="5203794"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A4A45"/>
                </a:solidFill>
                <a:latin typeface="Lato" pitchFamily="34" charset="0"/>
                <a:ea typeface="Lato" pitchFamily="34" charset="-122"/>
                <a:cs typeface="Lato" pitchFamily="34" charset="-120"/>
              </a:rPr>
              <a:t>Every create/edit/delete and file action writes an audit_log entry (user, timestamp, decision id, action) for traceability.</a:t>
            </a:r>
            <a:endParaRPr lang="en-US" sz="1450" dirty="0"/>
          </a:p>
        </p:txBody>
      </p:sp>
      <p:sp>
        <p:nvSpPr>
          <p:cNvPr id="7" name="Text 5"/>
          <p:cNvSpPr/>
          <p:nvPr/>
        </p:nvSpPr>
        <p:spPr>
          <a:xfrm>
            <a:off x="6332776" y="1740198"/>
            <a:ext cx="5203794" cy="295275"/>
          </a:xfrm>
          <a:prstGeom prst="rect">
            <a:avLst/>
          </a:prstGeom>
          <a:noFill/>
          <a:ln/>
        </p:spPr>
        <p:txBody>
          <a:bodyPr wrap="none" lIns="0" tIns="0" rIns="0" bIns="0" rtlCol="0" anchor="t"/>
          <a:lstStyle/>
          <a:p>
            <a:pPr marL="0" indent="0" algn="l">
              <a:lnSpc>
                <a:spcPct val="104000"/>
              </a:lnSpc>
              <a:buNone/>
            </a:pPr>
            <a:r>
              <a:rPr lang="en-US" sz="1850" b="1" dirty="0">
                <a:solidFill>
                  <a:srgbClr val="282824"/>
                </a:solidFill>
                <a:latin typeface="Lato Bold" pitchFamily="34" charset="0"/>
                <a:ea typeface="Lato Bold" pitchFamily="34" charset="-122"/>
                <a:cs typeface="Lato Bold" pitchFamily="34" charset="-120"/>
              </a:rPr>
              <a:t>Operational Practices</a:t>
            </a:r>
            <a:endParaRPr lang="en-US" sz="1850" dirty="0"/>
          </a:p>
        </p:txBody>
      </p:sp>
      <p:sp>
        <p:nvSpPr>
          <p:cNvPr id="8" name="Text 6"/>
          <p:cNvSpPr/>
          <p:nvPr/>
        </p:nvSpPr>
        <p:spPr>
          <a:xfrm>
            <a:off x="6332776" y="2224484"/>
            <a:ext cx="5203794" cy="1644253"/>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PostgreSQL backups and tested restore procedures.</a:t>
            </a:r>
            <a:endParaRPr lang="en-US" sz="1450" dirty="0"/>
          </a:p>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Periodic snapshots of uploads folder and retention policy for files.</a:t>
            </a:r>
            <a:endParaRPr lang="en-US" sz="1450" dirty="0"/>
          </a:p>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Monitoring for failed uploads, auth errors, and suspicious activity.</a:t>
            </a:r>
            <a:endParaRPr lang="en-US" sz="1450" dirty="0"/>
          </a:p>
        </p:txBody>
      </p:sp>
      <p:sp>
        <p:nvSpPr>
          <p:cNvPr id="11" name="Text 8"/>
          <p:cNvSpPr/>
          <p:nvPr/>
        </p:nvSpPr>
        <p:spPr>
          <a:xfrm>
            <a:off x="6947024" y="4298652"/>
            <a:ext cx="5010124" cy="302419"/>
          </a:xfrm>
          <a:prstGeom prst="rect">
            <a:avLst/>
          </a:prstGeom>
          <a:noFill/>
          <a:ln/>
        </p:spPr>
        <p:txBody>
          <a:bodyPr wrap="none" lIns="0" tIns="0" rIns="0" bIns="0" rtlCol="0" anchor="t"/>
          <a:lstStyle/>
          <a:p>
            <a:pPr marL="0" indent="0" algn="l">
              <a:lnSpc>
                <a:spcPct val="133000"/>
              </a:lnSpc>
              <a:buNone/>
            </a:pPr>
            <a:endParaRPr lang="en-US" sz="1450" dirty="0"/>
          </a:p>
        </p:txBody>
      </p:sp>
      <p:sp>
        <p:nvSpPr>
          <p:cNvPr id="12" name="Shape 9"/>
          <p:cNvSpPr/>
          <p:nvPr/>
        </p:nvSpPr>
        <p:spPr>
          <a:xfrm>
            <a:off x="661475" y="5290840"/>
            <a:ext cx="10868745" cy="25400"/>
          </a:xfrm>
          <a:prstGeom prst="roundRect">
            <a:avLst>
              <a:gd name="adj" fmla="val 59999"/>
            </a:avLst>
          </a:prstGeom>
          <a:solidFill>
            <a:srgbClr val="4A4A45">
              <a:alpha val="50000"/>
            </a:srgbClr>
          </a:solidFill>
          <a:ln/>
        </p:spPr>
      </p:sp>
      <p:sp>
        <p:nvSpPr>
          <p:cNvPr id="13" name="Text 10"/>
          <p:cNvSpPr/>
          <p:nvPr/>
        </p:nvSpPr>
        <p:spPr>
          <a:xfrm>
            <a:off x="661475" y="5576094"/>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A4A45"/>
                </a:solidFill>
                <a:latin typeface="Lato" pitchFamily="34" charset="0"/>
                <a:ea typeface="Lato" pitchFamily="34" charset="-122"/>
                <a:cs typeface="Lato" pitchFamily="34" charset="-120"/>
              </a:rPr>
              <a:t> These controls ensure decision records remain trustworthy and recoverable — critical for teams relying on the platform for governance and audits.</a:t>
            </a:r>
            <a:endParaRPr lang="en-US" sz="1450" dirty="0"/>
          </a:p>
        </p:txBody>
      </p:sp>
      <p:sp>
        <p:nvSpPr>
          <p:cNvPr id="15" name="Rectangle 14">
            <a:extLst>
              <a:ext uri="{FF2B5EF4-FFF2-40B4-BE49-F238E27FC236}">
                <a16:creationId xmlns:a16="http://schemas.microsoft.com/office/drawing/2014/main" id="{4C076427-C9FA-57B9-2EC2-95F72B6E2711}"/>
              </a:ext>
            </a:extLst>
          </p:cNvPr>
          <p:cNvSpPr/>
          <p:nvPr/>
        </p:nvSpPr>
        <p:spPr>
          <a:xfrm>
            <a:off x="10842171" y="6484776"/>
            <a:ext cx="1349829" cy="298579"/>
          </a:xfrm>
          <a:prstGeom prst="rect">
            <a:avLst/>
          </a:prstGeom>
          <a:solidFill>
            <a:srgbClr val="EFE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944</Words>
  <Application>Microsoft Office PowerPoint</Application>
  <PresentationFormat>Widescreen</PresentationFormat>
  <Paragraphs>76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Lato Bold</vt:lpstr>
      <vt:lpstr>Arial</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Sahithi Jangiti</dc:creator>
  <cp:lastModifiedBy>Sahithi Jangiti</cp:lastModifiedBy>
  <cp:revision>5</cp:revision>
  <dcterms:created xsi:type="dcterms:W3CDTF">2026-07-24T10:16:28Z</dcterms:created>
  <dcterms:modified xsi:type="dcterms:W3CDTF">2026-07-24T10:26:39Z</dcterms:modified>
</cp:coreProperties>
</file>